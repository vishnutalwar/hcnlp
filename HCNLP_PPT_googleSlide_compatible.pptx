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670550" cx="10080625"/>
  <p:notesSz cx="7772400" cy="10058400"/>
  <p:embeddedFontLst>
    <p:embeddedFont>
      <p:font typeface="Roboto"/>
      <p:regular r:id="rId33"/>
      <p:bold r:id="rId34"/>
      <p:italic r:id="rId35"/>
      <p:boldItalic r:id="rId36"/>
    </p:embeddedFont>
    <p:embeddedFont>
      <p:font typeface="Poppins"/>
      <p:regular r:id="rId37"/>
      <p:bold r:id="rId38"/>
      <p:italic r:id="rId39"/>
      <p:boldItalic r:id="rId40"/>
    </p:embeddedFont>
    <p:embeddedFont>
      <p:font typeface="Bebas Neue"/>
      <p:regular r:id="rId41"/>
    </p:embeddedFont>
    <p:embeddedFont>
      <p:font typeface="Poppins Light"/>
      <p:regular r:id="rId42"/>
      <p:bold r:id="rId43"/>
      <p:italic r:id="rId44"/>
      <p:boldItalic r:id="rId45"/>
    </p:embeddedFont>
    <p:embeddedFont>
      <p:font typeface="Poppins Medium"/>
      <p:regular r:id="rId46"/>
      <p:bold r:id="rId47"/>
      <p:italic r:id="rId48"/>
      <p:boldItalic r:id="rId49"/>
    </p:embeddedFont>
    <p:embeddedFont>
      <p:font typeface="Work Sans"/>
      <p:regular r:id="rId50"/>
      <p:bold r:id="rId51"/>
      <p:italic r:id="rId52"/>
      <p:boldItalic r:id="rId53"/>
    </p:embeddedFont>
    <p:embeddedFont>
      <p:font typeface="Poppins SemiBold"/>
      <p:regular r:id="rId54"/>
      <p:bold r:id="rId55"/>
      <p:italic r:id="rId56"/>
      <p:boldItalic r:id="rId57"/>
    </p:embeddedFont>
    <p:embeddedFont>
      <p:font typeface="Chakra Petch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A113DE-BBA2-400F-89C4-7204EDAEE6F0}">
  <a:tblStyle styleId="{43A113DE-BBA2-400F-89C4-7204EDAEE6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F5CC21B-D6D8-4BEB-86FB-64F19939388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42" Type="http://schemas.openxmlformats.org/officeDocument/2006/relationships/font" Target="fonts/PoppinsLight-regular.fntdata"/><Relationship Id="rId41" Type="http://schemas.openxmlformats.org/officeDocument/2006/relationships/font" Target="fonts/BebasNeue-regular.fntdata"/><Relationship Id="rId44" Type="http://schemas.openxmlformats.org/officeDocument/2006/relationships/font" Target="fonts/PoppinsLight-italic.fntdata"/><Relationship Id="rId43" Type="http://schemas.openxmlformats.org/officeDocument/2006/relationships/font" Target="fonts/PoppinsLight-bold.fntdata"/><Relationship Id="rId46" Type="http://schemas.openxmlformats.org/officeDocument/2006/relationships/font" Target="fonts/PoppinsMedium-regular.fntdata"/><Relationship Id="rId45" Type="http://schemas.openxmlformats.org/officeDocument/2006/relationships/font" Target="fonts/Poppins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PoppinsMedium-italic.fntdata"/><Relationship Id="rId47" Type="http://schemas.openxmlformats.org/officeDocument/2006/relationships/font" Target="fonts/PoppinsMedium-bold.fntdata"/><Relationship Id="rId49" Type="http://schemas.openxmlformats.org/officeDocument/2006/relationships/font" Target="fonts/PoppinsMedium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Roboto-regular.fntdata"/><Relationship Id="rId32" Type="http://schemas.openxmlformats.org/officeDocument/2006/relationships/slide" Target="slides/slide25.xml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Poppins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Poppins-italic.fntdata"/><Relationship Id="rId38" Type="http://schemas.openxmlformats.org/officeDocument/2006/relationships/font" Target="fonts/Poppins-bold.fntdata"/><Relationship Id="rId61" Type="http://schemas.openxmlformats.org/officeDocument/2006/relationships/font" Target="fonts/ChakraPetch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ChakraPetch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WorkSans-bold.fntdata"/><Relationship Id="rId50" Type="http://schemas.openxmlformats.org/officeDocument/2006/relationships/font" Target="fonts/WorkSans-regular.fntdata"/><Relationship Id="rId53" Type="http://schemas.openxmlformats.org/officeDocument/2006/relationships/font" Target="fonts/WorkSans-boldItalic.fntdata"/><Relationship Id="rId52" Type="http://schemas.openxmlformats.org/officeDocument/2006/relationships/font" Target="fonts/WorkSans-italic.fntdata"/><Relationship Id="rId11" Type="http://schemas.openxmlformats.org/officeDocument/2006/relationships/slide" Target="slides/slide4.xml"/><Relationship Id="rId55" Type="http://schemas.openxmlformats.org/officeDocument/2006/relationships/font" Target="fonts/PoppinsSemiBold-bold.fntdata"/><Relationship Id="rId10" Type="http://schemas.openxmlformats.org/officeDocument/2006/relationships/slide" Target="slides/slide3.xml"/><Relationship Id="rId54" Type="http://schemas.openxmlformats.org/officeDocument/2006/relationships/font" Target="fonts/PoppinsSemiBold-regular.fntdata"/><Relationship Id="rId13" Type="http://schemas.openxmlformats.org/officeDocument/2006/relationships/slide" Target="slides/slide6.xml"/><Relationship Id="rId57" Type="http://schemas.openxmlformats.org/officeDocument/2006/relationships/font" Target="fonts/PoppinsSemiBold-boldItalic.fntdata"/><Relationship Id="rId12" Type="http://schemas.openxmlformats.org/officeDocument/2006/relationships/slide" Target="slides/slide5.xml"/><Relationship Id="rId56" Type="http://schemas.openxmlformats.org/officeDocument/2006/relationships/font" Target="fonts/PoppinsSemiBold-italic.fntdata"/><Relationship Id="rId15" Type="http://schemas.openxmlformats.org/officeDocument/2006/relationships/slide" Target="slides/slide8.xml"/><Relationship Id="rId59" Type="http://schemas.openxmlformats.org/officeDocument/2006/relationships/font" Target="fonts/ChakraPetch-bold.fntdata"/><Relationship Id="rId14" Type="http://schemas.openxmlformats.org/officeDocument/2006/relationships/slide" Target="slides/slide7.xml"/><Relationship Id="rId58" Type="http://schemas.openxmlformats.org/officeDocument/2006/relationships/font" Target="fonts/ChakraPetch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fa55b9ecb_5_41:notes"/>
          <p:cNvSpPr txBox="1"/>
          <p:nvPr>
            <p:ph idx="12" type="sldNum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0" name="Google Shape;180;g3dfa55b9ecb_5_4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fa55b9ecb_5_41:notes"/>
          <p:cNvSpPr txBox="1"/>
          <p:nvPr>
            <p:ph idx="1" type="body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fe6fd1ff2_0_13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7" name="Google Shape;187;g3dfe6fd1ff2_0_131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fe6fd1ff2_0_131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fa55b9ecb_1_9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g3dfa55b9ecb_1_95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fa55b9ecb_1_95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fa55b9ecb_6_8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g3dfa55b9ecb_6_88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dfa55b9ecb_6_88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fa55b9ecb_6_63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9" name="Google Shape;219;g3dfa55b9ecb_6_63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dfa55b9ecb_6_63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fa55b9ecb_1_103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7" name="Google Shape;237;g3dfa55b9ecb_1_103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dfa55b9ecb_1_103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fa55b9ecb_6_10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2" name="Google Shape;252;g3dfa55b9ecb_6_104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dfa55b9ecb_6_104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fa55b9ecb_1_173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1" name="Google Shape;261;g3dfa55b9ecb_1_173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dfa55b9ecb_1_173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examples here as well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fa55b9ecb_1_11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1" name="Google Shape;271;g3dfa55b9ecb_1_111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dfa55b9ecb_1_111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fe6fd1ff2_0_1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0" name="Google Shape;290;g3dfe6fd1ff2_0_18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dfe6fd1ff2_0_18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fe6fd1ff2_0_3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9" name="Google Shape;309;g3dfe6fd1ff2_0_36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dfe6fd1ff2_0_36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fe6fd1ff2_0_5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8" name="Google Shape;328;g3dfe6fd1ff2_0_54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dfe6fd1ff2_0_54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fa55b9ecb_6_3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7" name="Google Shape;347;g3dfa55b9ecb_6_32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dfa55b9ecb_6_32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fa55b9ecb_6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7" name="Google Shape;357;g3dfa55b9ecb_6_0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dfa55b9ecb_6_0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fa55b9ecb_6_4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8" name="Google Shape;378;g3dfa55b9ecb_6_40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dfa55b9ecb_6_40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fa55b9ecb_6_4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g3dfa55b9ecb_6_48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dfa55b9ecb_6_48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08031e708_0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5" name="Google Shape;405;g3e08031e708_0_0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08031e708_0_0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fa55b9ecb_1_7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5" name="Google Shape;415;g3dfa55b9ecb_1_78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dfa55b9ecb_1_78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fa55b9ecb_1_669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6" name="Google Shape;426;g3dfa55b9ecb_1_669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dfa55b9ecb_1_669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113fe7f8a_1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7" name="Google Shape;437;g3e113fe7f8a_1_0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e113fe7f8a_1_0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fe6fd1ff2_0_17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0" name="Google Shape;450;g3dfe6fd1ff2_0_176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dfe6fd1ff2_0_176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fa55b9ecb_70_7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1" name="Google Shape;461;g3dfa55b9ecb_70_72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dfa55b9ecb_70_72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fa55b9ecb_6_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0" name="Google Shape;490;g3dfa55b9ecb_6_8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dfa55b9ecb_6_8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fa55b9ecb_1_8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9" name="Google Shape;499;g3dfa55b9ecb_1_86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dfa55b9ecb_1_86:notes"/>
          <p:cNvSpPr txBox="1"/>
          <p:nvPr>
            <p:ph idx="1" type="body"/>
          </p:nvPr>
        </p:nvSpPr>
        <p:spPr>
          <a:xfrm>
            <a:off x="777239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1203fde12_0_0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e1203fde12_0_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260475" y="928688"/>
            <a:ext cx="7559675" cy="1973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260475" y="2978150"/>
            <a:ext cx="7559675" cy="1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529560" y="23396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503999" y="4023360"/>
            <a:ext cx="9071640" cy="1532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687388" y="1414463"/>
            <a:ext cx="8694737" cy="23574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87388" y="3794125"/>
            <a:ext cx="8694737" cy="124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8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1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529560" y="23396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503238" y="4022725"/>
            <a:ext cx="4459287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5114925" y="4022725"/>
            <a:ext cx="4460875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693738" y="301625"/>
            <a:ext cx="8694737" cy="1096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693738" y="1390650"/>
            <a:ext cx="4265612" cy="6810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693738" y="2071688"/>
            <a:ext cx="4265612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3" type="body"/>
          </p:nvPr>
        </p:nvSpPr>
        <p:spPr>
          <a:xfrm>
            <a:off x="5103813" y="1390650"/>
            <a:ext cx="4284662" cy="6810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7"/>
          <p:cNvSpPr txBox="1"/>
          <p:nvPr>
            <p:ph idx="4" type="body"/>
          </p:nvPr>
        </p:nvSpPr>
        <p:spPr>
          <a:xfrm>
            <a:off x="5103813" y="2071688"/>
            <a:ext cx="4284662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29560" y="23396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93738" y="377825"/>
            <a:ext cx="32512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4286250" y="815975"/>
            <a:ext cx="510222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Char char="●"/>
              <a:defRPr sz="3200"/>
            </a:lvl1pPr>
            <a:lvl2pPr indent="-361950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–"/>
              <a:defRPr sz="2800"/>
            </a:lvl2pPr>
            <a:lvl3pPr indent="-297180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Char char="●"/>
              <a:defRPr sz="2400"/>
            </a:lvl3pPr>
            <a:lvl4pPr indent="-323850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–"/>
              <a:defRPr sz="2000"/>
            </a:lvl4pPr>
            <a:lvl5pPr indent="-285750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  <a:defRPr sz="2000"/>
            </a:lvl5pPr>
            <a:lvl6pPr indent="-285750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  <a:defRPr sz="2000"/>
            </a:lvl6pPr>
            <a:lvl7pPr indent="-285750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93738" y="1701800"/>
            <a:ext cx="325120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sz="1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None/>
              <a:defRPr sz="1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None/>
              <a:defRPr sz="1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None/>
              <a:defRPr sz="10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None/>
              <a:defRPr sz="10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693738" y="377825"/>
            <a:ext cx="32512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/>
          <p:nvPr>
            <p:ph idx="2" type="pic"/>
          </p:nvPr>
        </p:nvSpPr>
        <p:spPr>
          <a:xfrm>
            <a:off x="4286250" y="815975"/>
            <a:ext cx="5102225" cy="4030663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693738" y="1701800"/>
            <a:ext cx="325120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None/>
              <a:defRPr sz="1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None/>
              <a:defRPr sz="1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None/>
              <a:defRPr sz="1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None/>
              <a:defRPr sz="10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None/>
              <a:defRPr sz="10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529560" y="23396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 rot="5400000">
            <a:off x="4273560" y="253800"/>
            <a:ext cx="1532519" cy="90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 rot="5400000">
            <a:off x="6856413" y="2811463"/>
            <a:ext cx="3216275" cy="2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 rot="5400000">
            <a:off x="2231232" y="611982"/>
            <a:ext cx="3216275" cy="667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1pPr>
            <a:lvl2pPr indent="-314325" lvl="1" marL="914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2pPr>
            <a:lvl3pPr indent="-280035" lvl="2" marL="1371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3pPr>
            <a:lvl4pPr indent="-314325" lvl="3" marL="1828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Char char="–"/>
              <a:defRPr/>
            </a:lvl4pPr>
            <a:lvl5pPr indent="-280035" lvl="4" marL="22860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5pPr>
            <a:lvl6pPr indent="-280035" lvl="5" marL="2743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6pPr>
            <a:lvl7pPr indent="-280035" lvl="6" marL="3200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1260475" y="928688"/>
            <a:ext cx="7559675" cy="1973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1260475" y="2978150"/>
            <a:ext cx="7559675" cy="1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417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spcBef>
                <a:spcPts val="1417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spcBef>
                <a:spcPts val="1417"/>
              </a:spcBef>
              <a:spcAft>
                <a:spcPts val="0"/>
              </a:spcAft>
              <a:buSzPts val="1350"/>
              <a:buNone/>
              <a:defRPr sz="1800"/>
            </a:lvl3pPr>
            <a:lvl4pPr lvl="3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503999" y="802080"/>
            <a:ext cx="907164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03999" y="1463040"/>
            <a:ext cx="9071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687388" y="1414463"/>
            <a:ext cx="8694737" cy="23574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687388" y="3794125"/>
            <a:ext cx="8694737" cy="124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503999" y="802080"/>
            <a:ext cx="907164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3238" y="1463675"/>
            <a:ext cx="445928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5114925" y="1463675"/>
            <a:ext cx="44608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693738" y="301625"/>
            <a:ext cx="8694737" cy="1096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693738" y="1390650"/>
            <a:ext cx="4265612" cy="6810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19"/>
          <p:cNvSpPr txBox="1"/>
          <p:nvPr>
            <p:ph idx="2" type="body"/>
          </p:nvPr>
        </p:nvSpPr>
        <p:spPr>
          <a:xfrm>
            <a:off x="693738" y="2071688"/>
            <a:ext cx="4265612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3" type="body"/>
          </p:nvPr>
        </p:nvSpPr>
        <p:spPr>
          <a:xfrm>
            <a:off x="5103813" y="1390650"/>
            <a:ext cx="4284662" cy="6810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19"/>
          <p:cNvSpPr txBox="1"/>
          <p:nvPr>
            <p:ph idx="4" type="body"/>
          </p:nvPr>
        </p:nvSpPr>
        <p:spPr>
          <a:xfrm>
            <a:off x="5103813" y="2071688"/>
            <a:ext cx="4284662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503999" y="802080"/>
            <a:ext cx="907164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693738" y="377825"/>
            <a:ext cx="32512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4286250" y="815975"/>
            <a:ext cx="510222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spcBef>
                <a:spcPts val="1417"/>
              </a:spcBef>
              <a:spcAft>
                <a:spcPts val="0"/>
              </a:spcAft>
              <a:buSzPts val="2400"/>
              <a:buChar char="❖"/>
              <a:defRPr sz="3200"/>
            </a:lvl1pPr>
            <a:lvl2pPr indent="-361950" lvl="1" marL="914400" algn="l">
              <a:spcBef>
                <a:spcPts val="1417"/>
              </a:spcBef>
              <a:spcAft>
                <a:spcPts val="0"/>
              </a:spcAft>
              <a:buSzPts val="2100"/>
              <a:buChar char="➢"/>
              <a:defRPr sz="2800"/>
            </a:lvl2pPr>
            <a:lvl3pPr indent="-342900" lvl="2" marL="1371600" algn="l">
              <a:spcBef>
                <a:spcPts val="1417"/>
              </a:spcBef>
              <a:spcAft>
                <a:spcPts val="0"/>
              </a:spcAft>
              <a:buSzPts val="1800"/>
              <a:buChar char="➢"/>
              <a:defRPr sz="2400"/>
            </a:lvl3pPr>
            <a:lvl4pPr indent="-323850" lvl="3" marL="18288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4pPr>
            <a:lvl5pPr indent="-323850" lvl="4" marL="22860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5pPr>
            <a:lvl6pPr indent="-323850" lvl="5" marL="27432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6pPr>
            <a:lvl7pPr indent="-323850" lvl="6" marL="32004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693738" y="1701800"/>
            <a:ext cx="325120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21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693738" y="377825"/>
            <a:ext cx="32512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/>
          <p:nvPr>
            <p:ph idx="2" type="pic"/>
          </p:nvPr>
        </p:nvSpPr>
        <p:spPr>
          <a:xfrm>
            <a:off x="4286250" y="815975"/>
            <a:ext cx="5102225" cy="4030663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693738" y="1701800"/>
            <a:ext cx="325120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2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503999" y="802080"/>
            <a:ext cx="907164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 rot="5400000">
            <a:off x="2982419" y="-1015380"/>
            <a:ext cx="4114800" cy="90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 rot="5400000">
            <a:off x="6053932" y="2056607"/>
            <a:ext cx="4776787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 rot="5400000">
            <a:off x="1441451" y="-136524"/>
            <a:ext cx="4776787" cy="6653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ctrTitle"/>
          </p:nvPr>
        </p:nvSpPr>
        <p:spPr>
          <a:xfrm>
            <a:off x="1260475" y="928688"/>
            <a:ext cx="7559700" cy="19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" type="subTitle"/>
          </p:nvPr>
        </p:nvSpPr>
        <p:spPr>
          <a:xfrm>
            <a:off x="1260475" y="2978150"/>
            <a:ext cx="75597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417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spcBef>
                <a:spcPts val="1417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spcBef>
                <a:spcPts val="1417"/>
              </a:spcBef>
              <a:spcAft>
                <a:spcPts val="0"/>
              </a:spcAft>
              <a:buSzPts val="1350"/>
              <a:buNone/>
              <a:defRPr sz="1800"/>
            </a:lvl3pPr>
            <a:lvl4pPr lvl="3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503999" y="1463040"/>
            <a:ext cx="9071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687388" y="1414463"/>
            <a:ext cx="8694600" cy="23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687388" y="3794125"/>
            <a:ext cx="86946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503238" y="1463675"/>
            <a:ext cx="445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2" type="body"/>
          </p:nvPr>
        </p:nvSpPr>
        <p:spPr>
          <a:xfrm>
            <a:off x="5114925" y="1463675"/>
            <a:ext cx="446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693738" y="301625"/>
            <a:ext cx="86946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693738" y="1390650"/>
            <a:ext cx="4265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31"/>
          <p:cNvSpPr txBox="1"/>
          <p:nvPr>
            <p:ph idx="2" type="body"/>
          </p:nvPr>
        </p:nvSpPr>
        <p:spPr>
          <a:xfrm>
            <a:off x="693738" y="2071688"/>
            <a:ext cx="4265700" cy="30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3" type="body"/>
          </p:nvPr>
        </p:nvSpPr>
        <p:spPr>
          <a:xfrm>
            <a:off x="5103813" y="1390650"/>
            <a:ext cx="4284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9" name="Google Shape;149;p31"/>
          <p:cNvSpPr txBox="1"/>
          <p:nvPr>
            <p:ph idx="4" type="body"/>
          </p:nvPr>
        </p:nvSpPr>
        <p:spPr>
          <a:xfrm>
            <a:off x="5103813" y="2071688"/>
            <a:ext cx="4284600" cy="30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693738" y="377825"/>
            <a:ext cx="32511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4286250" y="815975"/>
            <a:ext cx="51021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spcBef>
                <a:spcPts val="1417"/>
              </a:spcBef>
              <a:spcAft>
                <a:spcPts val="0"/>
              </a:spcAft>
              <a:buSzPts val="2400"/>
              <a:buChar char="❖"/>
              <a:defRPr sz="3200"/>
            </a:lvl1pPr>
            <a:lvl2pPr indent="-361950" lvl="1" marL="914400" algn="l">
              <a:spcBef>
                <a:spcPts val="1417"/>
              </a:spcBef>
              <a:spcAft>
                <a:spcPts val="0"/>
              </a:spcAft>
              <a:buSzPts val="2100"/>
              <a:buChar char="➢"/>
              <a:defRPr sz="2800"/>
            </a:lvl2pPr>
            <a:lvl3pPr indent="-342900" lvl="2" marL="1371600" algn="l">
              <a:spcBef>
                <a:spcPts val="1417"/>
              </a:spcBef>
              <a:spcAft>
                <a:spcPts val="0"/>
              </a:spcAft>
              <a:buSzPts val="1800"/>
              <a:buChar char="➢"/>
              <a:defRPr sz="2400"/>
            </a:lvl3pPr>
            <a:lvl4pPr indent="-323850" lvl="3" marL="18288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4pPr>
            <a:lvl5pPr indent="-323850" lvl="4" marL="22860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5pPr>
            <a:lvl6pPr indent="-323850" lvl="5" marL="27432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6pPr>
            <a:lvl7pPr indent="-323850" lvl="6" marL="3200400" algn="l">
              <a:spcBef>
                <a:spcPts val="1417"/>
              </a:spcBef>
              <a:spcAft>
                <a:spcPts val="0"/>
              </a:spcAft>
              <a:buSzPts val="1500"/>
              <a:buChar char="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9" name="Google Shape;159;p33"/>
          <p:cNvSpPr txBox="1"/>
          <p:nvPr>
            <p:ph idx="2" type="body"/>
          </p:nvPr>
        </p:nvSpPr>
        <p:spPr>
          <a:xfrm>
            <a:off x="693738" y="1701800"/>
            <a:ext cx="32511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0" name="Google Shape;160;p33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title"/>
          </p:nvPr>
        </p:nvSpPr>
        <p:spPr>
          <a:xfrm>
            <a:off x="693738" y="377825"/>
            <a:ext cx="32511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4"/>
          <p:cNvSpPr/>
          <p:nvPr>
            <p:ph idx="2" type="pic"/>
          </p:nvPr>
        </p:nvSpPr>
        <p:spPr>
          <a:xfrm>
            <a:off x="4286250" y="815975"/>
            <a:ext cx="5102100" cy="4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4"/>
          <p:cNvSpPr txBox="1"/>
          <p:nvPr>
            <p:ph idx="1" type="body"/>
          </p:nvPr>
        </p:nvSpPr>
        <p:spPr>
          <a:xfrm>
            <a:off x="693738" y="1701800"/>
            <a:ext cx="32511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spcBef>
                <a:spcPts val="1417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spcBef>
                <a:spcPts val="1417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6pPr>
            <a:lvl7pPr indent="-228600" lvl="6" marL="3200400" algn="l">
              <a:spcBef>
                <a:spcPts val="1417"/>
              </a:spcBef>
              <a:spcAft>
                <a:spcPts val="0"/>
              </a:spcAft>
              <a:buSzPts val="7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6" name="Google Shape;166;p34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5"/>
          <p:cNvSpPr txBox="1"/>
          <p:nvPr>
            <p:ph idx="1" type="body"/>
          </p:nvPr>
        </p:nvSpPr>
        <p:spPr>
          <a:xfrm rot="5400000">
            <a:off x="2982389" y="-1015410"/>
            <a:ext cx="4114800" cy="9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5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5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>
            <p:ph type="title"/>
          </p:nvPr>
        </p:nvSpPr>
        <p:spPr>
          <a:xfrm rot="5400000">
            <a:off x="6053950" y="2056738"/>
            <a:ext cx="47769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6"/>
          <p:cNvSpPr txBox="1"/>
          <p:nvPr>
            <p:ph idx="1" type="body"/>
          </p:nvPr>
        </p:nvSpPr>
        <p:spPr>
          <a:xfrm rot="5400000">
            <a:off x="1441450" y="-136412"/>
            <a:ext cx="4776900" cy="6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4325" lvl="0" marL="457200" algn="l">
              <a:spcBef>
                <a:spcPts val="1417"/>
              </a:spcBef>
              <a:spcAft>
                <a:spcPts val="0"/>
              </a:spcAft>
              <a:buSzPts val="1350"/>
              <a:buChar char="❖"/>
              <a:defRPr/>
            </a:lvl1pPr>
            <a:lvl2pPr indent="-314325" lvl="1" marL="914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2pPr>
            <a:lvl3pPr indent="-314325" lvl="2" marL="13716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3pPr>
            <a:lvl4pPr indent="-314325" lvl="3" marL="18288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4pPr>
            <a:lvl5pPr indent="-314325" lvl="4" marL="22860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5pPr>
            <a:lvl6pPr indent="-314325" lvl="5" marL="27432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6pPr>
            <a:lvl7pPr indent="-314325" lvl="6" marL="3200400" algn="l">
              <a:spcBef>
                <a:spcPts val="1417"/>
              </a:spcBef>
              <a:spcAft>
                <a:spcPts val="0"/>
              </a:spcAft>
              <a:buSzPts val="1350"/>
              <a:buChar char="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6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6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3931920"/>
            <a:ext cx="10080000" cy="1738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73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29560" y="23396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b="0" i="0" sz="28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03999" y="4023360"/>
            <a:ext cx="9071640" cy="1532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–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–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4pPr>
            <a:lvl5pPr indent="-28575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6pPr>
            <a:lvl7pPr indent="-285750" lvl="6" marL="3200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86720" y="506159"/>
            <a:ext cx="9106920" cy="1524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503999" y="802080"/>
            <a:ext cx="907164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b="0" i="0" sz="28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03999" y="1463040"/>
            <a:ext cx="9071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❖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8797680" y="0"/>
            <a:ext cx="11887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7334640" y="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1" name="Google Shape;51;p13"/>
          <p:cNvCxnSpPr/>
          <p:nvPr/>
        </p:nvCxnSpPr>
        <p:spPr>
          <a:xfrm>
            <a:off x="0" y="731520"/>
            <a:ext cx="10080000" cy="0"/>
          </a:xfrm>
          <a:prstGeom prst="straightConnector1">
            <a:avLst/>
          </a:prstGeom>
          <a:noFill/>
          <a:ln cap="flat" cmpd="sng" w="36700">
            <a:solidFill>
              <a:srgbClr val="0073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999" y="91440"/>
            <a:ext cx="3513959" cy="588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3"/>
          <p:cNvCxnSpPr/>
          <p:nvPr/>
        </p:nvCxnSpPr>
        <p:spPr>
          <a:xfrm>
            <a:off x="8706240" y="0"/>
            <a:ext cx="0" cy="182880"/>
          </a:xfrm>
          <a:prstGeom prst="straightConnector1">
            <a:avLst/>
          </a:prstGeom>
          <a:noFill/>
          <a:ln cap="flat" cmpd="sng" w="18350">
            <a:solidFill>
              <a:srgbClr val="0073C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b="0" i="0" sz="28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503999" y="1463040"/>
            <a:ext cx="9071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❖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spcBef>
                <a:spcPts val="1417"/>
              </a:spcBef>
              <a:spcAft>
                <a:spcPts val="0"/>
              </a:spcAft>
              <a:buClr>
                <a:srgbClr val="0073C0"/>
              </a:buClr>
              <a:buSzPts val="1500"/>
              <a:buFont typeface="Noto Sans Symbols"/>
              <a:buChar char="➢"/>
              <a:defRPr b="0" i="0" sz="2000" u="none" cap="none" strike="noStrik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7" name="Google Shape;117;p25"/>
          <p:cNvCxnSpPr/>
          <p:nvPr/>
        </p:nvCxnSpPr>
        <p:spPr>
          <a:xfrm>
            <a:off x="0" y="731520"/>
            <a:ext cx="10080000" cy="0"/>
          </a:xfrm>
          <a:prstGeom prst="straightConnector1">
            <a:avLst/>
          </a:prstGeom>
          <a:noFill/>
          <a:ln cap="flat" cmpd="sng" w="36700">
            <a:solidFill>
              <a:srgbClr val="0073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8" name="Google Shape;118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999" y="91440"/>
            <a:ext cx="3513958" cy="588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5"/>
          <p:cNvCxnSpPr/>
          <p:nvPr/>
        </p:nvCxnSpPr>
        <p:spPr>
          <a:xfrm>
            <a:off x="8706240" y="0"/>
            <a:ext cx="0" cy="183000"/>
          </a:xfrm>
          <a:prstGeom prst="straightConnector1">
            <a:avLst/>
          </a:prstGeom>
          <a:noFill/>
          <a:ln cap="flat" cmpd="sng" w="18350">
            <a:solidFill>
              <a:srgbClr val="0073C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slide" Target="/ppt/slides/slide22.xm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4.xml"/><Relationship Id="rId4" Type="http://schemas.openxmlformats.org/officeDocument/2006/relationships/slide" Target="/ppt/slides/slide5.xml"/><Relationship Id="rId9" Type="http://schemas.openxmlformats.org/officeDocument/2006/relationships/slide" Target="/ppt/slides/slide21.xml"/><Relationship Id="rId5" Type="http://schemas.openxmlformats.org/officeDocument/2006/relationships/slide" Target="/ppt/slides/slide6.xml"/><Relationship Id="rId6" Type="http://schemas.openxmlformats.org/officeDocument/2006/relationships/slide" Target="/ppt/slides/slide7.xml"/><Relationship Id="rId7" Type="http://schemas.openxmlformats.org/officeDocument/2006/relationships/slide" Target="/ppt/slides/slide15.xml"/><Relationship Id="rId8" Type="http://schemas.openxmlformats.org/officeDocument/2006/relationships/slide" Target="/ppt/slides/slide19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gif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cs.ai" TargetMode="External"/><Relationship Id="rId4" Type="http://schemas.openxmlformats.org/officeDocument/2006/relationships/hyperlink" Target="http://cs.c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 txBox="1"/>
          <p:nvPr/>
        </p:nvSpPr>
        <p:spPr>
          <a:xfrm>
            <a:off x="504000" y="2202325"/>
            <a:ext cx="92676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Sensitivity Is Not Fragility:</a:t>
            </a:r>
            <a:endParaRPr b="1"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Decomposing Prompt Effects in Instruction-Tuned and Base Models</a:t>
            </a:r>
            <a:endParaRPr sz="2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37"/>
          <p:cNvSpPr txBox="1"/>
          <p:nvPr/>
        </p:nvSpPr>
        <p:spPr>
          <a:xfrm>
            <a:off x="504000" y="4101175"/>
            <a:ext cx="8955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 by:</a:t>
            </a:r>
            <a:endParaRPr b="1"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Mudit Khandelwal, Vishnu Talwar, Neha L Konchady</a:t>
            </a:r>
            <a:endParaRPr b="1"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HC-NLP</a:t>
            </a:r>
            <a:r>
              <a:rPr b="1"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:  Group 13</a:t>
            </a:r>
            <a:endParaRPr b="1"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20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</p:txBody>
      </p:sp>
      <p:sp>
        <p:nvSpPr>
          <p:cNvPr id="191" name="Google Shape;191;p38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192" name="Google Shape;192;p38"/>
          <p:cNvSpPr txBox="1"/>
          <p:nvPr/>
        </p:nvSpPr>
        <p:spPr>
          <a:xfrm>
            <a:off x="754600" y="1358375"/>
            <a:ext cx="83007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Motivation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Research Questions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Models, Datasets &amp; Perturbations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Evaluation Pipeline &amp; Metrics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Results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Base Model Failure Modes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Sensitivity vs. Fragility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Statistical Significance 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 &amp; Limitations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38"/>
          <p:cNvSpPr txBox="1"/>
          <p:nvPr/>
        </p:nvSpPr>
        <p:spPr>
          <a:xfrm>
            <a:off x="754600" y="7508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Agenda</a:t>
            </a:r>
            <a:endParaRPr sz="2800">
              <a:solidFill>
                <a:schemeClr val="accent1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</p:txBody>
      </p:sp>
      <p:sp>
        <p:nvSpPr>
          <p:cNvPr id="200" name="Google Shape;200;p39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01" name="Google Shape;201;p39"/>
          <p:cNvSpPr/>
          <p:nvPr/>
        </p:nvSpPr>
        <p:spPr>
          <a:xfrm>
            <a:off x="223199" y="986109"/>
            <a:ext cx="9634200" cy="4435800"/>
          </a:xfrm>
          <a:prstGeom prst="roundRect">
            <a:avLst>
              <a:gd fmla="val 6563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123175" lIns="123175" spcFirstLastPara="1" rIns="123175" wrap="square" tIns="12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6">
              <a:solidFill>
                <a:srgbClr val="EFEFEF"/>
              </a:solidFill>
              <a:highlight>
                <a:schemeClr val="accent1"/>
              </a:highlight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descr="a young boy in a blue shirt is standing in a grassy field and asking &quot; wait a minute who are you &quot; (Provided by Tenor)" id="202" name="Google Shape;2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00" y="1807300"/>
            <a:ext cx="3729549" cy="27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9"/>
          <p:cNvPicPr preferRelativeResize="0"/>
          <p:nvPr/>
        </p:nvPicPr>
        <p:blipFill rotWithShape="1">
          <a:blip r:embed="rId4">
            <a:alphaModFix/>
          </a:blip>
          <a:srcRect b="0" l="0" r="13292" t="0"/>
          <a:stretch/>
        </p:blipFill>
        <p:spPr>
          <a:xfrm>
            <a:off x="4907761" y="1171525"/>
            <a:ext cx="3947400" cy="1943700"/>
          </a:xfrm>
          <a:prstGeom prst="roundRect">
            <a:avLst>
              <a:gd fmla="val 8314" name="adj"/>
            </a:avLst>
          </a:prstGeom>
          <a:noFill/>
          <a:ln>
            <a:noFill/>
          </a:ln>
        </p:spPr>
      </p:pic>
      <p:pic>
        <p:nvPicPr>
          <p:cNvPr id="204" name="Google Shape;204;p39"/>
          <p:cNvPicPr preferRelativeResize="0"/>
          <p:nvPr/>
        </p:nvPicPr>
        <p:blipFill rotWithShape="1">
          <a:blip r:embed="rId5">
            <a:alphaModFix/>
          </a:blip>
          <a:srcRect b="0" l="6642" r="6650" t="0"/>
          <a:stretch/>
        </p:blipFill>
        <p:spPr>
          <a:xfrm>
            <a:off x="4907750" y="3193250"/>
            <a:ext cx="3947400" cy="1986900"/>
          </a:xfrm>
          <a:prstGeom prst="roundRect">
            <a:avLst>
              <a:gd fmla="val 831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12" name="Google Shape;212;p40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Motivation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3" name="Google Shape;213;p40"/>
          <p:cNvSpPr txBox="1"/>
          <p:nvPr>
            <p:ph idx="4294967295" type="body"/>
          </p:nvPr>
        </p:nvSpPr>
        <p:spPr>
          <a:xfrm>
            <a:off x="504461" y="1488065"/>
            <a:ext cx="9071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Why do small prompt changes matter? </a:t>
            </a:r>
            <a:endParaRPr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200"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1200"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Even when the task remains the same, LLMs can react strongly to small changes in the instruction. </a:t>
            </a:r>
            <a:endParaRPr sz="1200"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214" name="Google Shape;214;p40" title="123ChatGPT Image May 8, 2026, 07_17_5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025" y="2574225"/>
            <a:ext cx="2151300" cy="215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15" name="Google Shape;215;p40" title="12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849" y="2574225"/>
            <a:ext cx="2127000" cy="215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16" name="Google Shape;216;p40"/>
          <p:cNvSpPr/>
          <p:nvPr/>
        </p:nvSpPr>
        <p:spPr>
          <a:xfrm>
            <a:off x="631625" y="2303550"/>
            <a:ext cx="4438200" cy="297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Small edits in wording, order, or formatting can change accuracy and label behavior.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Prior work conflates</a:t>
            </a:r>
            <a:r>
              <a:rPr lang="en-US" sz="1200">
                <a:solidFill>
                  <a:srgbClr val="1A2B4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200">
                <a:solidFill>
                  <a:srgbClr val="E05A2B"/>
                </a:solidFill>
                <a:latin typeface="Poppins"/>
                <a:ea typeface="Poppins"/>
                <a:cs typeface="Poppins"/>
                <a:sym typeface="Poppins"/>
              </a:rPr>
              <a:t>sensitivity</a:t>
            </a:r>
            <a:r>
              <a:rPr lang="en-US" sz="1200">
                <a:solidFill>
                  <a:srgbClr val="1A2B4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(how much behavior changes) with</a:t>
            </a:r>
            <a:r>
              <a:rPr lang="en-US" sz="1200">
                <a:solidFill>
                  <a:srgbClr val="1A2B4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200">
                <a:solidFill>
                  <a:srgbClr val="8B1A1A"/>
                </a:solidFill>
                <a:latin typeface="Poppins"/>
                <a:ea typeface="Poppins"/>
                <a:cs typeface="Poppins"/>
                <a:sym typeface="Poppins"/>
              </a:rPr>
              <a:t>fragility</a:t>
            </a:r>
            <a:r>
              <a:rPr lang="en-US" sz="1200">
                <a:solidFill>
                  <a:srgbClr val="1A2B4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(harmful brittleness)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paired audit across model families + base/instruct variants under a shared protocol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23" name="Google Shape;223;p41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24" name="Google Shape;224;p41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Research Questions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25" name="Google Shape;225;p41"/>
          <p:cNvGrpSpPr/>
          <p:nvPr/>
        </p:nvGrpSpPr>
        <p:grpSpPr>
          <a:xfrm>
            <a:off x="615550" y="1588397"/>
            <a:ext cx="8783791" cy="3458058"/>
            <a:chOff x="962025" y="1051725"/>
            <a:chExt cx="7219950" cy="2968800"/>
          </a:xfrm>
        </p:grpSpPr>
        <p:sp>
          <p:nvSpPr>
            <p:cNvPr id="226" name="Google Shape;226;p41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1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7" name="Google Shape;227;p41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1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8" name="Google Shape;228;p41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1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9" name="Google Shape;229;p41"/>
            <p:cNvSpPr txBox="1"/>
            <p:nvPr/>
          </p:nvSpPr>
          <p:spPr>
            <a:xfrm>
              <a:off x="5965275" y="1889538"/>
              <a:ext cx="2125200" cy="16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475" lIns="106475" spcFirstLastPara="1" rIns="106475" wrap="square" tIns="106475">
              <a:noAutofit/>
            </a:bodyPr>
            <a:lstStyle/>
            <a:p>
              <a:pPr indent="-350808" lvl="0" marL="350808" rtl="0" algn="ctr">
                <a:spcBef>
                  <a:spcPts val="1450"/>
                </a:spcBef>
                <a:spcAft>
                  <a:spcPts val="0"/>
                </a:spcAft>
                <a:buClr>
                  <a:schemeClr val="dk1"/>
                </a:buClr>
                <a:buSzPts val="1125"/>
                <a:buFont typeface="Arial"/>
                <a:buNone/>
              </a:pPr>
              <a:r>
                <a:rPr b="1" lang="en-US" sz="1637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Base model failure</a:t>
              </a:r>
              <a:endParaRPr sz="1637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2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RQ3 - </a:t>
              </a: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Do base models behave as a uniform robustness contrast, or do they exhibit qualitatively distinct failure modes?</a:t>
              </a: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sz="1432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41"/>
            <p:cNvSpPr txBox="1"/>
            <p:nvPr/>
          </p:nvSpPr>
          <p:spPr>
            <a:xfrm>
              <a:off x="3509391" y="1889543"/>
              <a:ext cx="2125200" cy="19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475" lIns="106475" spcFirstLastPara="1" rIns="106475" wrap="square" tIns="106475">
              <a:noAutofit/>
            </a:bodyPr>
            <a:lstStyle/>
            <a:p>
              <a:pPr indent="-350808" lvl="0" marL="350808" rtl="0" algn="ctr">
                <a:spcBef>
                  <a:spcPts val="1450"/>
                </a:spcBef>
                <a:spcAft>
                  <a:spcPts val="0"/>
                </a:spcAft>
                <a:buClr>
                  <a:schemeClr val="dk1"/>
                </a:buClr>
                <a:buSzPts val="1125"/>
                <a:buFont typeface="Arial"/>
                <a:buNone/>
              </a:pPr>
              <a:r>
                <a:rPr b="1" lang="en-US" sz="1637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Statistical Effects</a:t>
              </a:r>
              <a:endParaRPr sz="1637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2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RQ2 - </a:t>
              </a: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Which perturbation effects survive paired statistical testing after Holm correction, and which apparent null results are simply underpowered?</a:t>
              </a: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endParaRPr sz="1432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41"/>
            <p:cNvSpPr txBox="1"/>
            <p:nvPr/>
          </p:nvSpPr>
          <p:spPr>
            <a:xfrm>
              <a:off x="1089100" y="1889538"/>
              <a:ext cx="2125200" cy="16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475" lIns="106475" spcFirstLastPara="1" rIns="106475" wrap="square" tIns="106475">
              <a:noAutofit/>
            </a:bodyPr>
            <a:lstStyle/>
            <a:p>
              <a:pPr indent="-350808" lvl="0" marL="350808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25"/>
                <a:buFont typeface="Arial"/>
                <a:buNone/>
              </a:pPr>
              <a:r>
                <a:rPr b="1" lang="en-US" sz="1637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b="1" lang="en-US" sz="1637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erturbation effects</a:t>
              </a:r>
              <a:endParaRPr sz="1637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RQ1 - </a:t>
              </a:r>
              <a:r>
                <a:rPr lang="en-US" sz="1432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How much do minimal instruction perturbations change instruction-tuned model behavior under a shared baseline, and how does this differ across model families and tasks?</a:t>
              </a:r>
              <a:endParaRPr sz="1432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32" name="Google Shape;232;p41" title="icons8-change-9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737" y="1923530"/>
            <a:ext cx="727663" cy="727663"/>
          </a:xfrm>
          <a:prstGeom prst="rect">
            <a:avLst/>
          </a:prstGeom>
          <a:solidFill>
            <a:srgbClr val="F8F7F7"/>
          </a:solidFill>
          <a:ln>
            <a:noFill/>
          </a:ln>
        </p:spPr>
      </p:pic>
      <p:pic>
        <p:nvPicPr>
          <p:cNvPr id="233" name="Google Shape;233;p41" title="icons8-statistics-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704" y="1923525"/>
            <a:ext cx="638825" cy="638825"/>
          </a:xfrm>
          <a:prstGeom prst="rect">
            <a:avLst/>
          </a:prstGeom>
          <a:solidFill>
            <a:srgbClr val="F8F7F7"/>
          </a:solidFill>
          <a:ln>
            <a:noFill/>
          </a:ln>
        </p:spPr>
      </p:pic>
      <p:pic>
        <p:nvPicPr>
          <p:cNvPr id="234" name="Google Shape;234;p41" title="icons8-failure-6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1300" y="1867825"/>
            <a:ext cx="638825" cy="6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41" name="Google Shape;241;p42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graphicFrame>
        <p:nvGraphicFramePr>
          <p:cNvPr id="242" name="Google Shape;242;p42"/>
          <p:cNvGraphicFramePr/>
          <p:nvPr/>
        </p:nvGraphicFramePr>
        <p:xfrm>
          <a:off x="408738" y="134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3894625"/>
                <a:gridCol w="5587675"/>
              </a:tblGrid>
              <a:tr h="34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Models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Datasets(850 total examples)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Llama 3.1 (8B) - Instruct &amp; Base variant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Multi-Genre Natural Language Inference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(300 items)-MultiNLI </a:t>
                      </a:r>
                      <a:endParaRPr sz="12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Gemma 2 (9B) – Instruct &amp; Base variant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Big-Bench Hard Date Understanding (250 items) - BBH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Qwen 2.5 (7B) – Instruct &amp; Base variant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AI2 Reasoning Challenge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(300 items) - ARC challenge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42"/>
          <p:cNvSpPr/>
          <p:nvPr/>
        </p:nvSpPr>
        <p:spPr>
          <a:xfrm>
            <a:off x="505525" y="3135650"/>
            <a:ext cx="2813400" cy="2263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Premise:</a:t>
            </a: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The surgeon completed the procedure without any complications and the patient was moved to the recovery ward.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</a:t>
            </a: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The operation was successful.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Gold label: A (entailment)</a:t>
            </a:r>
            <a:endParaRPr b="1" sz="1100">
              <a:solidFill>
                <a:srgbClr val="A61C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3743200" y="3135650"/>
            <a:ext cx="2813400" cy="2263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Input:</a:t>
            </a: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Today is Tuesday, March 14, 2023.what day is exactly 3 weeks from today?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Options:</a:t>
            </a: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(A) April 4, 2023   (B) April 5, 2023         (C) March 28, 2023        (D) April 3, 2023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Gold label: A(April 4, 2023)</a:t>
            </a:r>
            <a:endParaRPr b="1" sz="1100">
              <a:solidFill>
                <a:srgbClr val="A61C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6980875" y="3135650"/>
            <a:ext cx="2813400" cy="2263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Question:</a:t>
            </a: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Which of the following is the primary source of energy for almost all life on Earth?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Options:</a:t>
            </a: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(A) Sunlight     (B) Gravity  (C) Wind        (D) Geothermal heat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Gold label: A </a:t>
            </a:r>
            <a:r>
              <a:rPr b="1" lang="en-US" sz="11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(Sunlight</a:t>
            </a:r>
            <a:r>
              <a:rPr b="1" lang="en-US" sz="12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00">
              <a:solidFill>
                <a:srgbClr val="A61C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" name="Google Shape;246;p42"/>
          <p:cNvSpPr txBox="1"/>
          <p:nvPr/>
        </p:nvSpPr>
        <p:spPr>
          <a:xfrm>
            <a:off x="2615475" y="5097650"/>
            <a:ext cx="57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Roboto"/>
                <a:ea typeface="Roboto"/>
                <a:cs typeface="Roboto"/>
                <a:sym typeface="Roboto"/>
              </a:rPr>
              <a:t>MNLI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42"/>
          <p:cNvSpPr txBox="1"/>
          <p:nvPr/>
        </p:nvSpPr>
        <p:spPr>
          <a:xfrm>
            <a:off x="5881550" y="5097650"/>
            <a:ext cx="57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Roboto"/>
                <a:ea typeface="Roboto"/>
                <a:cs typeface="Roboto"/>
                <a:sym typeface="Roboto"/>
              </a:rPr>
              <a:t>BBH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42"/>
          <p:cNvSpPr txBox="1"/>
          <p:nvPr/>
        </p:nvSpPr>
        <p:spPr>
          <a:xfrm>
            <a:off x="9147625" y="5097650"/>
            <a:ext cx="57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Roboto"/>
                <a:ea typeface="Roboto"/>
                <a:cs typeface="Roboto"/>
                <a:sym typeface="Roboto"/>
              </a:rPr>
              <a:t>ARC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2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Dataset and Models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56" name="Google Shape;256;p43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57" name="Google Shape;257;p43"/>
          <p:cNvSpPr txBox="1"/>
          <p:nvPr>
            <p:ph idx="4294967295" type="title"/>
          </p:nvPr>
        </p:nvSpPr>
        <p:spPr>
          <a:xfrm>
            <a:off x="504461" y="84543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Evaluation pipeline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58" name="Google Shape;258;p43" title="ChatGPT Image May 8, 2026, 08_14_5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75" y="1429525"/>
            <a:ext cx="9659150" cy="391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65" name="Google Shape;265;p44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66" name="Google Shape;266;p44"/>
          <p:cNvSpPr txBox="1"/>
          <p:nvPr>
            <p:ph idx="4294967295" type="title"/>
          </p:nvPr>
        </p:nvSpPr>
        <p:spPr>
          <a:xfrm>
            <a:off x="421574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Perturbations taxonomy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267" name="Google Shape;267;p44"/>
          <p:cNvGraphicFramePr/>
          <p:nvPr/>
        </p:nvGraphicFramePr>
        <p:xfrm>
          <a:off x="4157263" y="150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1484775"/>
                <a:gridCol w="4110450"/>
              </a:tblGrid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b="1" lang="en-US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Perturbation</a:t>
                      </a:r>
                      <a:endParaRPr b="1"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b="1" lang="en-US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Operational intent</a:t>
                      </a:r>
                      <a:endParaRPr b="1"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lex_rewrite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Reword the instruction while preserving label mapping.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lex_typo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Inject realistic character-level typos via nlpaug.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lex_lowercase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Lowercase the instruction; restore answer letters.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struct_inst_first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Move the instruction block before the task body.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ctx_role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Add a role priming preamble.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ctx_irrelevant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Add a semantically irrelevant evaluation note.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fmt_caps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Capitalize the instruction text.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fmt_separators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Replace newlines with visible separators.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000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instruction_rewrite</a:t>
                      </a:r>
                      <a:endParaRPr sz="1000"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Stronger paraphrase keeping the output constraint.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44"/>
          <p:cNvSpPr txBox="1"/>
          <p:nvPr/>
        </p:nvSpPr>
        <p:spPr>
          <a:xfrm>
            <a:off x="421575" y="1731800"/>
            <a:ext cx="3000000" cy="30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Baseline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</a:t>
            </a:r>
            <a:r>
              <a:rPr lang="en-US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One shared "drop-in" prompt per task.</a:t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Constraint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</a:t>
            </a:r>
            <a:r>
              <a:rPr lang="en-US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Nine </a:t>
            </a:r>
            <a:r>
              <a:rPr i="1"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minimal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perturbations that strictly preserve the core task, answer options, and label mapping.</a:t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Goal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Test the prompt interface, </a:t>
            </a:r>
            <a:r>
              <a:rPr i="1"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not</a:t>
            </a:r>
            <a:r>
              <a:rPr lang="en-US" sz="1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to find the optimized prompt.</a:t>
            </a:r>
            <a:endParaRPr sz="1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75" name="Google Shape;275;p45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76" name="Google Shape;276;p45"/>
          <p:cNvSpPr/>
          <p:nvPr/>
        </p:nvSpPr>
        <p:spPr>
          <a:xfrm>
            <a:off x="512850" y="92312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45"/>
          <p:cNvSpPr/>
          <p:nvPr/>
        </p:nvSpPr>
        <p:spPr>
          <a:xfrm>
            <a:off x="615400" y="1238150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highlight>
                <a:srgbClr val="0D0D1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45"/>
          <p:cNvSpPr txBox="1"/>
          <p:nvPr/>
        </p:nvSpPr>
        <p:spPr>
          <a:xfrm>
            <a:off x="571442" y="886494"/>
            <a:ext cx="1846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Baseline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9" name="Google Shape;279;p45"/>
          <p:cNvSpPr/>
          <p:nvPr/>
        </p:nvSpPr>
        <p:spPr>
          <a:xfrm>
            <a:off x="527499" y="2467500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64D79"/>
              </a:solidFill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45"/>
          <p:cNvSpPr/>
          <p:nvPr/>
        </p:nvSpPr>
        <p:spPr>
          <a:xfrm>
            <a:off x="637375" y="2782525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endParaRPr b="1" sz="1000">
              <a:solidFill>
                <a:srgbClr val="0C34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rgbClr val="0C343D"/>
              </a:solidFill>
              <a:highlight>
                <a:srgbClr val="0D0D1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What is the relationship between the premise and the hypothesis?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rgbClr val="073763"/>
                </a:solidFill>
              </a:rPr>
              <a:t> </a:t>
            </a:r>
            <a:endParaRPr b="1" sz="1000">
              <a:solidFill>
                <a:srgbClr val="07376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" name="Google Shape;281;p45"/>
          <p:cNvSpPr txBox="1"/>
          <p:nvPr/>
        </p:nvSpPr>
        <p:spPr>
          <a:xfrm>
            <a:off x="593417" y="2430869"/>
            <a:ext cx="1846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Lexical Rewrite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2" name="Google Shape;282;p45"/>
          <p:cNvSpPr/>
          <p:nvPr/>
        </p:nvSpPr>
        <p:spPr>
          <a:xfrm>
            <a:off x="549474" y="401187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45"/>
          <p:cNvSpPr/>
          <p:nvPr/>
        </p:nvSpPr>
        <p:spPr>
          <a:xfrm>
            <a:off x="637375" y="4326900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highlight>
                <a:srgbClr val="0D0D1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Deos teh premiss ential, contradict, or is it nuteral to teh hypothesiss?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Answar with one lettar only: A for entailmant, B for neitral, C for contradition.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45"/>
          <p:cNvSpPr txBox="1"/>
          <p:nvPr/>
        </p:nvSpPr>
        <p:spPr>
          <a:xfrm>
            <a:off x="593417" y="3968556"/>
            <a:ext cx="1846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Lexical Typo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5" name="Google Shape;285;p45"/>
          <p:cNvSpPr txBox="1"/>
          <p:nvPr/>
        </p:nvSpPr>
        <p:spPr>
          <a:xfrm>
            <a:off x="9026108" y="915729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45"/>
          <p:cNvSpPr txBox="1"/>
          <p:nvPr/>
        </p:nvSpPr>
        <p:spPr>
          <a:xfrm>
            <a:off x="9080425" y="2471142"/>
            <a:ext cx="638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45"/>
          <p:cNvSpPr txBox="1"/>
          <p:nvPr/>
        </p:nvSpPr>
        <p:spPr>
          <a:xfrm>
            <a:off x="9080418" y="4011884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295" name="Google Shape;295;p46"/>
          <p:cNvSpPr/>
          <p:nvPr/>
        </p:nvSpPr>
        <p:spPr>
          <a:xfrm>
            <a:off x="512850" y="92312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/>
          <p:nvPr/>
        </p:nvSpPr>
        <p:spPr>
          <a:xfrm>
            <a:off x="615400" y="1238150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highlight>
                <a:srgbClr val="0D0D1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 entailment, 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 neutral, 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 contradiction.</a:t>
            </a:r>
            <a:r>
              <a:rPr b="1" lang="en-US" sz="1100">
                <a:solidFill>
                  <a:srgbClr val="FF0000"/>
                </a:solidFill>
              </a:rPr>
              <a:t> 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p46"/>
          <p:cNvSpPr txBox="1"/>
          <p:nvPr/>
        </p:nvSpPr>
        <p:spPr>
          <a:xfrm>
            <a:off x="571453" y="886500"/>
            <a:ext cx="2556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Lexical Lowercase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8" name="Google Shape;298;p46"/>
          <p:cNvSpPr/>
          <p:nvPr/>
        </p:nvSpPr>
        <p:spPr>
          <a:xfrm>
            <a:off x="527499" y="2467500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46"/>
          <p:cNvSpPr/>
          <p:nvPr/>
        </p:nvSpPr>
        <p:spPr>
          <a:xfrm>
            <a:off x="637375" y="2782525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endParaRPr b="1" sz="1000">
              <a:solidFill>
                <a:srgbClr val="FF0000"/>
              </a:solidFill>
              <a:highlight>
                <a:srgbClr val="0D0D1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46"/>
          <p:cNvSpPr txBox="1"/>
          <p:nvPr/>
        </p:nvSpPr>
        <p:spPr>
          <a:xfrm>
            <a:off x="593425" y="2430875"/>
            <a:ext cx="4183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 Instruction First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1" name="Google Shape;301;p46"/>
          <p:cNvSpPr/>
          <p:nvPr/>
        </p:nvSpPr>
        <p:spPr>
          <a:xfrm>
            <a:off x="549474" y="401187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46"/>
          <p:cNvSpPr/>
          <p:nvPr/>
        </p:nvSpPr>
        <p:spPr>
          <a:xfrm>
            <a:off x="637375" y="4340300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You are an expert linguist and logician.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46"/>
          <p:cNvSpPr txBox="1"/>
          <p:nvPr/>
        </p:nvSpPr>
        <p:spPr>
          <a:xfrm>
            <a:off x="571442" y="3975244"/>
            <a:ext cx="1846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 Role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4" name="Google Shape;304;p46"/>
          <p:cNvSpPr txBox="1"/>
          <p:nvPr/>
        </p:nvSpPr>
        <p:spPr>
          <a:xfrm>
            <a:off x="9026108" y="915729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" name="Google Shape;305;p46"/>
          <p:cNvSpPr txBox="1"/>
          <p:nvPr/>
        </p:nvSpPr>
        <p:spPr>
          <a:xfrm>
            <a:off x="9080425" y="2471142"/>
            <a:ext cx="638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46"/>
          <p:cNvSpPr txBox="1"/>
          <p:nvPr/>
        </p:nvSpPr>
        <p:spPr>
          <a:xfrm>
            <a:off x="9080418" y="4011884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13" name="Google Shape;313;p47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314" name="Google Shape;314;p47"/>
          <p:cNvSpPr/>
          <p:nvPr/>
        </p:nvSpPr>
        <p:spPr>
          <a:xfrm>
            <a:off x="512850" y="92312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7"/>
          <p:cNvSpPr/>
          <p:nvPr/>
        </p:nvSpPr>
        <p:spPr>
          <a:xfrm>
            <a:off x="615400" y="1238150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Note: This is part of a larger evaluation suite.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47"/>
          <p:cNvSpPr txBox="1"/>
          <p:nvPr/>
        </p:nvSpPr>
        <p:spPr>
          <a:xfrm>
            <a:off x="571455" y="886500"/>
            <a:ext cx="3047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 Irrelevant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7" name="Google Shape;317;p47"/>
          <p:cNvSpPr/>
          <p:nvPr/>
        </p:nvSpPr>
        <p:spPr>
          <a:xfrm>
            <a:off x="527499" y="2467500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7"/>
          <p:cNvSpPr/>
          <p:nvPr/>
        </p:nvSpPr>
        <p:spPr>
          <a:xfrm>
            <a:off x="637375" y="2782525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endParaRPr b="1" sz="1000">
              <a:solidFill>
                <a:srgbClr val="FF0000"/>
              </a:solidFill>
              <a:highlight>
                <a:srgbClr val="0D0D1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593427" y="2430875"/>
            <a:ext cx="2263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Format Caps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20" name="Google Shape;320;p47"/>
          <p:cNvSpPr/>
          <p:nvPr/>
        </p:nvSpPr>
        <p:spPr>
          <a:xfrm>
            <a:off x="549474" y="4070350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47"/>
          <p:cNvSpPr/>
          <p:nvPr/>
        </p:nvSpPr>
        <p:spPr>
          <a:xfrm>
            <a:off x="637375" y="4399025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Does the premise entail, contradict, or is it neutral to the hypothesis?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604377" y="4038163"/>
            <a:ext cx="2241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Format Separators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9026108" y="915729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47"/>
          <p:cNvSpPr txBox="1"/>
          <p:nvPr/>
        </p:nvSpPr>
        <p:spPr>
          <a:xfrm>
            <a:off x="9080425" y="2471142"/>
            <a:ext cx="638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47"/>
          <p:cNvSpPr txBox="1"/>
          <p:nvPr/>
        </p:nvSpPr>
        <p:spPr>
          <a:xfrm>
            <a:off x="9080418" y="4070359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32" name="Google Shape;332;p48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333" name="Google Shape;333;p48"/>
          <p:cNvSpPr/>
          <p:nvPr/>
        </p:nvSpPr>
        <p:spPr>
          <a:xfrm>
            <a:off x="512850" y="92312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48"/>
          <p:cNvSpPr/>
          <p:nvPr/>
        </p:nvSpPr>
        <p:spPr>
          <a:xfrm>
            <a:off x="615400" y="1238150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Premise: The surgeon completed the procedure without any complications and the patient was moved to the recovery ward.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Hypothesis: The operation was successful.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Determine the relation between the premise and the hypothesis.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with one letter only: A for entailment, B for neutral, C for contradiction.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" name="Google Shape;335;p48"/>
          <p:cNvSpPr txBox="1"/>
          <p:nvPr/>
        </p:nvSpPr>
        <p:spPr>
          <a:xfrm>
            <a:off x="571455" y="886500"/>
            <a:ext cx="3003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Instruction Rewrite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36" name="Google Shape;336;p48"/>
          <p:cNvSpPr/>
          <p:nvPr/>
        </p:nvSpPr>
        <p:spPr>
          <a:xfrm>
            <a:off x="527499" y="2467500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48"/>
          <p:cNvSpPr/>
          <p:nvPr/>
        </p:nvSpPr>
        <p:spPr>
          <a:xfrm>
            <a:off x="637375" y="2782525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Today is Tuesday, March 14, 2023. Jane's birthday is exactly 3 weeks from today. What is the date of Jane's birthday?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 April 4, 2023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(B) April 5, 2023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(C) March 28, 2023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(D) April 3, 2023    </a:t>
            </a: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the correct option. Write only the corresponding letter.</a:t>
            </a:r>
            <a:r>
              <a:rPr b="1" lang="en-US" sz="1000">
                <a:solidFill>
                  <a:schemeClr val="dk1"/>
                </a:solidFill>
              </a:rPr>
              <a:t> </a:t>
            </a:r>
            <a:r>
              <a:rPr b="1" lang="en-US" sz="10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604452" y="2394938"/>
            <a:ext cx="2263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Instruction Rewrite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549474" y="4011875"/>
            <a:ext cx="9128700" cy="1347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9DA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8"/>
          <p:cNvSpPr/>
          <p:nvPr/>
        </p:nvSpPr>
        <p:spPr>
          <a:xfrm>
            <a:off x="615400" y="4326875"/>
            <a:ext cx="8952900" cy="974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Question: Which of the following is the primary source of energy for almost all life on Earth?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 Sunlight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(B) Gravity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(C) Wind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(D) Geothermal heat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Which option is correct? Write just the letter.</a:t>
            </a:r>
            <a:r>
              <a:rPr b="1" lang="en-US" sz="1000">
                <a:solidFill>
                  <a:srgbClr val="FF0000"/>
                </a:solidFill>
              </a:rPr>
              <a:t> </a:t>
            </a:r>
            <a:endParaRPr b="1" sz="1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48"/>
          <p:cNvSpPr txBox="1"/>
          <p:nvPr/>
        </p:nvSpPr>
        <p:spPr>
          <a:xfrm>
            <a:off x="615402" y="3968538"/>
            <a:ext cx="2241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Instruction Rewrite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48"/>
          <p:cNvSpPr txBox="1"/>
          <p:nvPr/>
        </p:nvSpPr>
        <p:spPr>
          <a:xfrm>
            <a:off x="9026108" y="915729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MNLI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48"/>
          <p:cNvSpPr txBox="1"/>
          <p:nvPr/>
        </p:nvSpPr>
        <p:spPr>
          <a:xfrm>
            <a:off x="9080425" y="2471142"/>
            <a:ext cx="638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BBH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48"/>
          <p:cNvSpPr txBox="1"/>
          <p:nvPr/>
        </p:nvSpPr>
        <p:spPr>
          <a:xfrm>
            <a:off x="9080418" y="4011884"/>
            <a:ext cx="84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51" name="Google Shape;351;p49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352" name="Google Shape;352;p49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Metrics and Scoring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353" name="Google Shape;353;p49"/>
          <p:cNvGraphicFramePr/>
          <p:nvPr/>
        </p:nvGraphicFramePr>
        <p:xfrm>
          <a:off x="503988" y="144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2088875"/>
                <a:gridCol w="6982825"/>
              </a:tblGrid>
              <a:tr h="46655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Δacc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Acc</a:t>
                      </a:r>
                      <a:r>
                        <a:rPr baseline="-25000"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base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− Acc</a:t>
                      </a:r>
                      <a:r>
                        <a:rPr baseline="-25000"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pert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: pp; positive = harm, negative = improvement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Flip Rate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(FR)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F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lip rate: fraction of examples where prediction changes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Sensitivity Score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(SS)</a:t>
                      </a:r>
                      <a:endParaRPr b="1"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FR × |Δacc|: bounded composite; requires </a:t>
                      </a:r>
                      <a:r>
                        <a:rPr i="1"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both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many flips and large accuracy shift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Semantic distance (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dₛₑₘ)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Cosine distance between SBERT embeddings of baseline vs. perturbed instruction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p49"/>
          <p:cNvSpPr txBox="1"/>
          <p:nvPr/>
        </p:nvSpPr>
        <p:spPr>
          <a:xfrm>
            <a:off x="504000" y="3827200"/>
            <a:ext cx="9071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5C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Scoring:</a:t>
            </a:r>
            <a:r>
              <a:rPr lang="en-US" sz="1600">
                <a:solidFill>
                  <a:srgbClr val="1A2B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Constrained letter outputs scored via next token log probabilities; chat-template continuation validation for instruct models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0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61" name="Google Shape;361;p50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362" name="Google Shape;362;p50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The Before: Baseline accuracy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63" name="Google Shape;363;p50" title="fig04_baseline_accuracy_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300" y="1373325"/>
            <a:ext cx="6033074" cy="3601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50"/>
          <p:cNvGrpSpPr/>
          <p:nvPr/>
        </p:nvGrpSpPr>
        <p:grpSpPr>
          <a:xfrm>
            <a:off x="242626" y="1945633"/>
            <a:ext cx="3690285" cy="2277368"/>
            <a:chOff x="1338900" y="918500"/>
            <a:chExt cx="6466244" cy="2565471"/>
          </a:xfrm>
        </p:grpSpPr>
        <p:cxnSp>
          <p:nvCxnSpPr>
            <p:cNvPr id="365" name="Google Shape;365;p50"/>
            <p:cNvCxnSpPr/>
            <p:nvPr/>
          </p:nvCxnSpPr>
          <p:spPr>
            <a:xfrm>
              <a:off x="1338900" y="3401931"/>
              <a:ext cx="6466200" cy="0"/>
            </a:xfrm>
            <a:prstGeom prst="straightConnector1">
              <a:avLst/>
            </a:prstGeom>
            <a:noFill/>
            <a:ln cap="flat" cmpd="sng" w="8475">
              <a:solidFill>
                <a:srgbClr val="0B539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6" name="Google Shape;366;p50"/>
            <p:cNvSpPr txBox="1"/>
            <p:nvPr/>
          </p:nvSpPr>
          <p:spPr>
            <a:xfrm>
              <a:off x="1338903" y="2617327"/>
              <a:ext cx="64662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175" lIns="0" spcFirstLastPara="1" rIns="0" wrap="square" tIns="405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98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Qwen Base is unusually strong on ARC, so </a:t>
              </a:r>
              <a:r>
                <a:rPr lang="en-US" sz="1098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its</a:t>
              </a:r>
              <a:r>
                <a:rPr lang="en-US" sz="1098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later drop is not just “base models are weak.” </a:t>
              </a:r>
              <a:endParaRPr sz="1098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67" name="Google Shape;367;p50"/>
            <p:cNvSpPr txBox="1"/>
            <p:nvPr/>
          </p:nvSpPr>
          <p:spPr>
            <a:xfrm>
              <a:off x="1338900" y="2433309"/>
              <a:ext cx="64662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88">
                <a:solidFill>
                  <a:srgbClr val="0B5394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368" name="Google Shape;368;p50"/>
            <p:cNvCxnSpPr/>
            <p:nvPr/>
          </p:nvCxnSpPr>
          <p:spPr>
            <a:xfrm>
              <a:off x="1338900" y="2660060"/>
              <a:ext cx="6466200" cy="0"/>
            </a:xfrm>
            <a:prstGeom prst="straightConnector1">
              <a:avLst/>
            </a:prstGeom>
            <a:noFill/>
            <a:ln cap="flat" cmpd="sng" w="8475">
              <a:solidFill>
                <a:srgbClr val="0B539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9" name="Google Shape;369;p50"/>
            <p:cNvSpPr txBox="1"/>
            <p:nvPr/>
          </p:nvSpPr>
          <p:spPr>
            <a:xfrm>
              <a:off x="1338922" y="2016085"/>
              <a:ext cx="64662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175" lIns="0" spcFirstLastPara="1" rIns="0" wrap="square" tIns="405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98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Qwen Instruct gives the strongest overall baseline, especially on MNLI. </a:t>
              </a:r>
              <a:endParaRPr sz="1098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70" name="Google Shape;370;p50"/>
            <p:cNvSpPr txBox="1"/>
            <p:nvPr/>
          </p:nvSpPr>
          <p:spPr>
            <a:xfrm>
              <a:off x="1338900" y="1732700"/>
              <a:ext cx="64662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88">
                <a:solidFill>
                  <a:srgbClr val="0B5394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371" name="Google Shape;371;p50"/>
            <p:cNvCxnSpPr/>
            <p:nvPr/>
          </p:nvCxnSpPr>
          <p:spPr>
            <a:xfrm>
              <a:off x="1338900" y="1959363"/>
              <a:ext cx="6466200" cy="0"/>
            </a:xfrm>
            <a:prstGeom prst="straightConnector1">
              <a:avLst/>
            </a:prstGeom>
            <a:noFill/>
            <a:ln cap="flat" cmpd="sng" w="8475">
              <a:solidFill>
                <a:srgbClr val="0B539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" name="Google Shape;372;p50"/>
            <p:cNvSpPr txBox="1"/>
            <p:nvPr/>
          </p:nvSpPr>
          <p:spPr>
            <a:xfrm>
              <a:off x="1338900" y="1248826"/>
              <a:ext cx="64662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175" lIns="0" spcFirstLastPara="1" rIns="0" wrap="square" tIns="405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98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Instruct models generally outperform base models under the shared prompt.</a:t>
              </a:r>
              <a:r>
                <a:rPr lang="en-US" sz="1332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endParaRPr sz="1332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73" name="Google Shape;373;p50"/>
            <p:cNvSpPr txBox="1"/>
            <p:nvPr/>
          </p:nvSpPr>
          <p:spPr>
            <a:xfrm>
              <a:off x="1338900" y="918500"/>
              <a:ext cx="64662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88">
                <a:solidFill>
                  <a:srgbClr val="0B5394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374" name="Google Shape;374;p50"/>
            <p:cNvCxnSpPr/>
            <p:nvPr/>
          </p:nvCxnSpPr>
          <p:spPr>
            <a:xfrm>
              <a:off x="1338900" y="1125714"/>
              <a:ext cx="6466200" cy="0"/>
            </a:xfrm>
            <a:prstGeom prst="straightConnector1">
              <a:avLst/>
            </a:prstGeom>
            <a:noFill/>
            <a:ln cap="flat" cmpd="sng" w="8475">
              <a:solidFill>
                <a:srgbClr val="0B539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5" name="Google Shape;375;p50"/>
            <p:cNvSpPr txBox="1"/>
            <p:nvPr/>
          </p:nvSpPr>
          <p:spPr>
            <a:xfrm>
              <a:off x="1338944" y="3257171"/>
              <a:ext cx="64662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88">
                <a:solidFill>
                  <a:srgbClr val="0B5394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1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82" name="Google Shape;382;p51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383" name="Google Shape;383;p51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The After: Where Prompt Changes Help vs. Hurt  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84" name="Google Shape;384;p51" title="fig05_instruct_delta_heatmap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150" y="1479900"/>
            <a:ext cx="6311900" cy="35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1"/>
          <p:cNvSpPr txBox="1"/>
          <p:nvPr/>
        </p:nvSpPr>
        <p:spPr>
          <a:xfrm>
            <a:off x="3754975" y="4991550"/>
            <a:ext cx="640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Blue = improvement, red = harm. Positive Δacc means the perturbation hurt accuracy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6" name="Google Shape;386;p51"/>
          <p:cNvSpPr txBox="1"/>
          <p:nvPr/>
        </p:nvSpPr>
        <p:spPr>
          <a:xfrm>
            <a:off x="218075" y="2010300"/>
            <a:ext cx="3275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Large prompt effects exist, but they are model and task specific.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MNLI shows the largest improvements, especially for Llama I</a:t>
            </a:r>
            <a:r>
              <a:rPr lang="en-US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nstruct</a:t>
            </a:r>
            <a:r>
              <a:rPr lang="en-US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and Gemma Instruct.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Positive Δacc values indicate harm; negative values indicate recovery.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Therefore, sensitivity must be interpreted with direction, not only magnitude.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387" name="Google Shape;387;p51"/>
          <p:cNvCxnSpPr/>
          <p:nvPr/>
        </p:nvCxnSpPr>
        <p:spPr>
          <a:xfrm flipH="1" rot="10800000">
            <a:off x="312925" y="3692475"/>
            <a:ext cx="2830200" cy="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51"/>
          <p:cNvCxnSpPr/>
          <p:nvPr/>
        </p:nvCxnSpPr>
        <p:spPr>
          <a:xfrm flipH="1" rot="10800000">
            <a:off x="312925" y="3194250"/>
            <a:ext cx="2793300" cy="9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51"/>
          <p:cNvCxnSpPr/>
          <p:nvPr/>
        </p:nvCxnSpPr>
        <p:spPr>
          <a:xfrm>
            <a:off x="312925" y="2533175"/>
            <a:ext cx="2734800" cy="1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96" name="Google Shape;396;p52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397" name="Google Shape;397;p52"/>
          <p:cNvSpPr txBox="1"/>
          <p:nvPr>
            <p:ph idx="4294967295" type="title"/>
          </p:nvPr>
        </p:nvSpPr>
        <p:spPr>
          <a:xfrm>
            <a:off x="504000" y="802075"/>
            <a:ext cx="90717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Llama on lex_rewrite 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398" name="Google Shape;398;p52"/>
          <p:cNvGraphicFramePr/>
          <p:nvPr/>
        </p:nvGraphicFramePr>
        <p:xfrm>
          <a:off x="642313" y="142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1223275"/>
                <a:gridCol w="1223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Task: ARC | Model: llama3.1-8b-instruct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 Accuracy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80.00%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Perturbed </a:t>
                      </a: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78.3%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Δacc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+1.7pp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0.07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dₛₑₘ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0.2872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9" name="Google Shape;399;p52"/>
          <p:cNvGraphicFramePr/>
          <p:nvPr/>
        </p:nvGraphicFramePr>
        <p:xfrm>
          <a:off x="3707888" y="142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1208600"/>
                <a:gridCol w="1208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Task: MNLI | Model: llama3.1-8b-instruct 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 Accuracy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44.33%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Perturbed </a:t>
                      </a: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63.3%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Δacc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-19pp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0.403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7.7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dₛₑₘ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0.1114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0" name="Google Shape;400;p52"/>
          <p:cNvGraphicFramePr/>
          <p:nvPr/>
        </p:nvGraphicFramePr>
        <p:xfrm>
          <a:off x="6744113" y="142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1230575"/>
                <a:gridCol w="1208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Task: BBH | Model: llama3.1-8b-instruct </a:t>
                      </a:r>
                      <a:endParaRPr sz="1200">
                        <a:solidFill>
                          <a:schemeClr val="dk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 Accuracy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46.0%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Perturbed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44.8%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Δacc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+1.2pp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0.028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429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dₛₑₘ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0.068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52"/>
          <p:cNvSpPr txBox="1"/>
          <p:nvPr/>
        </p:nvSpPr>
        <p:spPr>
          <a:xfrm>
            <a:off x="549163" y="5187025"/>
            <a:ext cx="89823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5C99"/>
                </a:solidFill>
                <a:latin typeface="Poppins Light"/>
                <a:ea typeface="Poppins Light"/>
                <a:cs typeface="Poppins Light"/>
                <a:sym typeface="Poppins Light"/>
              </a:rPr>
              <a:t>Δacc: base accuracy - Pert accuracy    </a:t>
            </a:r>
            <a:r>
              <a:rPr lang="en-US" sz="1200">
                <a:solidFill>
                  <a:srgbClr val="1F5C99"/>
                </a:solidFill>
                <a:latin typeface="Poppins Light"/>
                <a:ea typeface="Poppins Light"/>
                <a:cs typeface="Poppins Light"/>
                <a:sym typeface="Poppins Light"/>
              </a:rPr>
              <a:t>FR:  Flip Rate  SS: Sensitivity Score   </a:t>
            </a:r>
            <a:r>
              <a:rPr lang="en-US" sz="1200">
                <a:solidFill>
                  <a:srgbClr val="1F5C99"/>
                </a:solidFill>
                <a:latin typeface="Poppins"/>
                <a:ea typeface="Poppins"/>
                <a:cs typeface="Poppins"/>
                <a:sym typeface="Poppins"/>
              </a:rPr>
              <a:t>dₛₑₘ</a:t>
            </a:r>
            <a:r>
              <a:rPr lang="en-US" sz="1200">
                <a:solidFill>
                  <a:srgbClr val="1F5C99"/>
                </a:solidFill>
                <a:latin typeface="Poppins Light"/>
                <a:ea typeface="Poppins Light"/>
                <a:cs typeface="Poppins Light"/>
                <a:sym typeface="Poppins Light"/>
              </a:rPr>
              <a:t>: Semantic Distance</a:t>
            </a:r>
            <a:endParaRPr sz="1200">
              <a:solidFill>
                <a:srgbClr val="1F5C9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02" name="Google Shape;402;p52"/>
          <p:cNvSpPr txBox="1"/>
          <p:nvPr/>
        </p:nvSpPr>
        <p:spPr>
          <a:xfrm>
            <a:off x="559425" y="4517350"/>
            <a:ext cx="929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Same perturbation, completely different outcomes - sensitivity is a model × task × perturbation interaction.</a:t>
            </a:r>
            <a:endParaRPr sz="13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09" name="Google Shape;409;p53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10" name="Google Shape;410;p53"/>
          <p:cNvSpPr txBox="1"/>
          <p:nvPr>
            <p:ph idx="4294967295" type="title"/>
          </p:nvPr>
        </p:nvSpPr>
        <p:spPr>
          <a:xfrm>
            <a:off x="504000" y="802076"/>
            <a:ext cx="90717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Case Study 1: Llama Inst. on MNLI recovers from a weak baseline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411" name="Google Shape;411;p53"/>
          <p:cNvGraphicFramePr/>
          <p:nvPr/>
        </p:nvGraphicFramePr>
        <p:xfrm>
          <a:off x="692900" y="214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{9F5CC21B-D6D8-4BEB-86FB-64F199393889}</a:tableStyleId>
              </a:tblPr>
              <a:tblGrid>
                <a:gridCol w="2313025"/>
                <a:gridCol w="1860475"/>
                <a:gridCol w="2547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Condition</a:t>
                      </a:r>
                      <a:endParaRPr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MNLI accuracy</a:t>
                      </a:r>
                      <a:endParaRPr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Meaning</a:t>
                      </a:r>
                      <a:endParaRPr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Baseline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44.3%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Weak prompt model fit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880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lex_rewrite</a:t>
                      </a:r>
                      <a:endParaRPr sz="1200">
                        <a:solidFill>
                          <a:srgbClr val="1880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63.3%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-</a:t>
                      </a: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19.0 pp improvement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880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instruction_rewrite</a:t>
                      </a:r>
                      <a:endParaRPr sz="1200">
                        <a:solidFill>
                          <a:srgbClr val="1880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60.7%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-</a:t>
                      </a: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16.3 pp improvement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880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struct_inst_first</a:t>
                      </a:r>
                      <a:endParaRPr sz="1200">
                        <a:solidFill>
                          <a:srgbClr val="1880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57.7%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-</a:t>
                      </a: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13.3 pp improvement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53"/>
          <p:cNvSpPr txBox="1"/>
          <p:nvPr/>
        </p:nvSpPr>
        <p:spPr>
          <a:xfrm>
            <a:off x="692900" y="4437825"/>
            <a:ext cx="75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This is sensitivity, but not fragility: the prompt change improves behavior. 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4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19" name="Google Shape;419;p54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20" name="Google Shape;420;p54"/>
          <p:cNvSpPr txBox="1"/>
          <p:nvPr>
            <p:ph idx="4294967295" type="title"/>
          </p:nvPr>
        </p:nvSpPr>
        <p:spPr>
          <a:xfrm>
            <a:off x="504461" y="8589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Case Study 2: Qwen Base collapses on ARC 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421" name="Google Shape;421;p54"/>
          <p:cNvGraphicFramePr/>
          <p:nvPr/>
        </p:nvGraphicFramePr>
        <p:xfrm>
          <a:off x="288075" y="182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{9F5CC21B-D6D8-4BEB-86FB-64F199393889}</a:tableStyleId>
              </a:tblPr>
              <a:tblGrid>
                <a:gridCol w="977825"/>
                <a:gridCol w="987550"/>
                <a:gridCol w="2317825"/>
              </a:tblGrid>
              <a:tr h="56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Condition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ARC accuracy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Label behavior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Baseline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85.3%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Balanced A/B/C/D predictions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880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ctx_role</a:t>
                      </a:r>
                      <a:endParaRPr sz="1200">
                        <a:solidFill>
                          <a:srgbClr val="1880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24.7%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Almost all predictions become A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880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lex_typo</a:t>
                      </a:r>
                      <a:endParaRPr sz="1200">
                        <a:solidFill>
                          <a:srgbClr val="1880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40.7%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Strong skew toward A</a:t>
                      </a:r>
                      <a:endParaRPr sz="12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2" name="Google Shape;422;p54"/>
          <p:cNvSpPr txBox="1"/>
          <p:nvPr/>
        </p:nvSpPr>
        <p:spPr>
          <a:xfrm>
            <a:off x="218725" y="4876925"/>
            <a:ext cx="655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 SemiBold"/>
                <a:ea typeface="Poppins SemiBold"/>
                <a:cs typeface="Poppins SemiBold"/>
                <a:sym typeface="Poppins SemiBold"/>
              </a:rPr>
              <a:t>This is genuine fragility: high flip rate + harmful Δacc + label collapse. </a:t>
            </a:r>
            <a:endParaRPr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23" name="Google Shape;423;p54" title="fig09_qwen_base_arc_label_shi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325" y="1532250"/>
            <a:ext cx="5111526" cy="31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30" name="Google Shape;430;p55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31" name="Google Shape;431;p55"/>
          <p:cNvSpPr txBox="1"/>
          <p:nvPr>
            <p:ph idx="4294967295" type="title"/>
          </p:nvPr>
        </p:nvSpPr>
        <p:spPr>
          <a:xfrm>
            <a:off x="504000" y="802075"/>
            <a:ext cx="96063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Case Study 3: Base models are not one phenomenon 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2" name="Google Shape;432;p55"/>
          <p:cNvSpPr txBox="1"/>
          <p:nvPr/>
        </p:nvSpPr>
        <p:spPr>
          <a:xfrm>
            <a:off x="504000" y="1469800"/>
            <a:ext cx="656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Base models do not behave as a clean robustness control group. 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433" name="Google Shape;433;p55"/>
          <p:cNvGraphicFramePr/>
          <p:nvPr/>
        </p:nvGraphicFramePr>
        <p:xfrm>
          <a:off x="612300" y="1940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{9F5CC21B-D6D8-4BEB-86FB-64F199393889}</a:tableStyleId>
              </a:tblPr>
              <a:tblGrid>
                <a:gridCol w="1828800"/>
                <a:gridCol w="1638300"/>
                <a:gridCol w="3362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Base-model behavior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Example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Interpretation</a:t>
                      </a:r>
                      <a:endParaRPr sz="11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Non-engagement near chance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Llama Base, Gemma Base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Low sensitivity does not mean robustness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Competent baseline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Qwen Base on ARC, BBH, MNLI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Can solve the task under the shared prompt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Prompt-induced collapse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Qwen Base + </a:t>
                      </a:r>
                      <a:r>
                        <a:rPr lang="en-US">
                          <a:solidFill>
                            <a:srgbClr val="188038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ctx_role for ARC</a:t>
                      </a:r>
                      <a:endParaRPr>
                        <a:solidFill>
                          <a:srgbClr val="188038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Small prompt change causes degenerate label behavior</a:t>
                      </a:r>
                      <a:endParaRPr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p55"/>
          <p:cNvSpPr txBox="1"/>
          <p:nvPr/>
        </p:nvSpPr>
        <p:spPr>
          <a:xfrm>
            <a:off x="612300" y="4295650"/>
            <a:ext cx="84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Base-model results are useful as case studies, but not as a clean robustness comparison. 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41" name="Google Shape;441;p56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42" name="Google Shape;442;p56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Mapping Recovery and Collapse 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43" name="Google Shape;443;p56" title="fig12_quadrant_sensitivity_fragi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0050" y="1280275"/>
            <a:ext cx="6212025" cy="417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6"/>
          <p:cNvSpPr txBox="1"/>
          <p:nvPr/>
        </p:nvSpPr>
        <p:spPr>
          <a:xfrm>
            <a:off x="218075" y="2010300"/>
            <a:ext cx="3275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465A4"/>
                </a:solidFill>
                <a:latin typeface="Poppins"/>
                <a:ea typeface="Poppins"/>
                <a:cs typeface="Poppins"/>
                <a:sym typeface="Poppins"/>
              </a:rPr>
              <a:t>Recovery from poor baseline</a:t>
            </a:r>
            <a:r>
              <a:rPr lang="en-US" sz="1100">
                <a:solidFill>
                  <a:srgbClr val="3465A4"/>
                </a:solidFill>
                <a:latin typeface="Poppins"/>
                <a:ea typeface="Poppins"/>
                <a:cs typeface="Poppins"/>
                <a:sym typeface="Poppins"/>
              </a:rPr>
              <a:t> : 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FR + large negative Δacc (improvement). </a:t>
            </a:r>
            <a:b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Llama-MNLI cluster.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53929"/>
                </a:solidFill>
                <a:latin typeface="Poppins"/>
                <a:ea typeface="Poppins"/>
                <a:cs typeface="Poppins"/>
                <a:sym typeface="Poppins"/>
              </a:rPr>
              <a:t>Fragility / collapse:</a:t>
            </a:r>
            <a:r>
              <a:rPr b="1" lang="en-US" sz="1100">
                <a:solidFill>
                  <a:srgbClr val="C5392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FR + large positive Δacc (harm). Qwen base ARC ctx_role: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 85.3% to 24.7%, FR = 0.71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783F04"/>
                </a:solidFill>
                <a:latin typeface="Poppins"/>
                <a:ea typeface="Poppins"/>
                <a:cs typeface="Poppins"/>
                <a:sym typeface="Poppins"/>
              </a:rPr>
              <a:t>Stable / small harm</a:t>
            </a:r>
            <a:r>
              <a:rPr b="1" lang="en-US" sz="1100">
                <a:solidFill>
                  <a:srgbClr val="3C4043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b="1" lang="en-US" sz="1100">
                <a:solidFill>
                  <a:srgbClr val="3C40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Low FR + small positive Δacc. Most BBH and ARC effects.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8E3E"/>
                </a:solidFill>
                <a:latin typeface="Poppins"/>
                <a:ea typeface="Poppins"/>
                <a:cs typeface="Poppins"/>
                <a:sym typeface="Poppins"/>
              </a:rPr>
              <a:t>Minor recovery:</a:t>
            </a:r>
            <a:r>
              <a:rPr lang="en-US" sz="1100">
                <a:solidFill>
                  <a:srgbClr val="1E8E3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Low FR + small negative Δacc. Qwen-Instruct across all tasks.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45" name="Google Shape;445;p56"/>
          <p:cNvCxnSpPr/>
          <p:nvPr/>
        </p:nvCxnSpPr>
        <p:spPr>
          <a:xfrm>
            <a:off x="348725" y="2683650"/>
            <a:ext cx="278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56"/>
          <p:cNvCxnSpPr/>
          <p:nvPr/>
        </p:nvCxnSpPr>
        <p:spPr>
          <a:xfrm>
            <a:off x="332375" y="3457200"/>
            <a:ext cx="30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56"/>
          <p:cNvCxnSpPr/>
          <p:nvPr/>
        </p:nvCxnSpPr>
        <p:spPr>
          <a:xfrm>
            <a:off x="332375" y="4109925"/>
            <a:ext cx="30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7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54" name="Google Shape;454;p57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55" name="Google Shape;455;p57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Statistical Significance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6" name="Google Shape;456;p57"/>
          <p:cNvSpPr txBox="1"/>
          <p:nvPr/>
        </p:nvSpPr>
        <p:spPr>
          <a:xfrm>
            <a:off x="265125" y="3753825"/>
            <a:ext cx="80586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Medium"/>
              <a:buChar char="●"/>
            </a:pPr>
            <a:r>
              <a:rPr lang="en-US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Only 7 of 81 instruction model perturbation effects survive Holm correction.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 of 7 are MNLI improvements.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Only one significant harmful instruction tuned effect: Llama ARC under typos.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52 of 81 tests are underpowered due to fewer than 20 discordant pairs, null result here means inconclusive, not zero effect.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57" name="Google Shape;457;p57" title="fig06_significant_effe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125" y="1241725"/>
            <a:ext cx="5647499" cy="2882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8" name="Google Shape;458;p57"/>
          <p:cNvGraphicFramePr/>
          <p:nvPr/>
        </p:nvGraphicFramePr>
        <p:xfrm>
          <a:off x="265113" y="136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{43A113DE-BBA2-400F-89C4-7204EDAEE6F0}</a:tableStyleId>
              </a:tblPr>
              <a:tblGrid>
                <a:gridCol w="1220575"/>
                <a:gridCol w="1385300"/>
                <a:gridCol w="1523925"/>
              </a:tblGrid>
              <a:tr h="6445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95% CI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McNemar’s Test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Holm-Bonferr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ni correction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57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Estimates the plausible range of the true accuracy drop under resampling 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providing a measure of uncertainty 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Whether the perturbation changes predictions asymmetrically on the same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examples by comparing correct→wrong vs wrong→correct swaps (b vs c)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Adjusts p-values across multiple perturbations to control the family-wise error rate,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reducing false positives when many tests are run together. 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8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65" name="Google Shape;465;p58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66" name="Google Shape;466;p58"/>
          <p:cNvSpPr txBox="1"/>
          <p:nvPr>
            <p:ph idx="4294967295" type="title"/>
          </p:nvPr>
        </p:nvSpPr>
        <p:spPr>
          <a:xfrm>
            <a:off x="504474" y="840005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467" name="Google Shape;467;p58"/>
          <p:cNvGrpSpPr/>
          <p:nvPr/>
        </p:nvGrpSpPr>
        <p:grpSpPr>
          <a:xfrm>
            <a:off x="371469" y="1603847"/>
            <a:ext cx="9346380" cy="2681400"/>
            <a:chOff x="371469" y="1603847"/>
            <a:chExt cx="9346380" cy="2681400"/>
          </a:xfrm>
        </p:grpSpPr>
        <p:grpSp>
          <p:nvGrpSpPr>
            <p:cNvPr id="468" name="Google Shape;468;p58"/>
            <p:cNvGrpSpPr/>
            <p:nvPr/>
          </p:nvGrpSpPr>
          <p:grpSpPr>
            <a:xfrm>
              <a:off x="371469" y="1603847"/>
              <a:ext cx="9346380" cy="2681400"/>
              <a:chOff x="371469" y="1603847"/>
              <a:chExt cx="9346380" cy="2681400"/>
            </a:xfrm>
          </p:grpSpPr>
          <p:grpSp>
            <p:nvGrpSpPr>
              <p:cNvPr id="469" name="Google Shape;469;p58"/>
              <p:cNvGrpSpPr/>
              <p:nvPr/>
            </p:nvGrpSpPr>
            <p:grpSpPr>
              <a:xfrm>
                <a:off x="371469" y="1603887"/>
                <a:ext cx="6952282" cy="2681326"/>
                <a:chOff x="504825" y="1524000"/>
                <a:chExt cx="9067800" cy="3619500"/>
              </a:xfrm>
            </p:grpSpPr>
            <p:sp>
              <p:nvSpPr>
                <p:cNvPr id="470" name="Google Shape;470;p58"/>
                <p:cNvSpPr/>
                <p:nvPr/>
              </p:nvSpPr>
              <p:spPr>
                <a:xfrm>
                  <a:off x="504825" y="1524000"/>
                  <a:ext cx="2857500" cy="36195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7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58"/>
                <p:cNvSpPr/>
                <p:nvPr/>
              </p:nvSpPr>
              <p:spPr>
                <a:xfrm>
                  <a:off x="504825" y="1524000"/>
                  <a:ext cx="28575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3465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58"/>
                <p:cNvSpPr txBox="1"/>
                <p:nvPr/>
              </p:nvSpPr>
              <p:spPr>
                <a:xfrm>
                  <a:off x="695325" y="1797177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40">
                      <a:solidFill>
                        <a:srgbClr val="3465A4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analytics</a:t>
                  </a:r>
                  <a:endParaRPr sz="1840">
                    <a:solidFill>
                      <a:srgbClr val="3465A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473" name="Google Shape;473;p58"/>
                <p:cNvSpPr txBox="1"/>
                <p:nvPr/>
              </p:nvSpPr>
              <p:spPr>
                <a:xfrm>
                  <a:off x="695325" y="2238375"/>
                  <a:ext cx="2566800" cy="271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508">
                      <a:solidFill>
                        <a:srgbClr val="1E293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1. </a:t>
                  </a:r>
                  <a:r>
                    <a:rPr lang="en-US" sz="1508">
                      <a:solidFill>
                        <a:schemeClr val="dk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Prompt sensitivity is real, but it is not automatically fragility.</a:t>
                  </a:r>
                  <a:endParaRPr sz="1508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  <a:p>
                  <a:pPr indent="0" lvl="0" marL="0" rtl="0" algn="l">
                    <a:spcBef>
                      <a:spcPts val="690"/>
                    </a:spcBef>
                    <a:spcAft>
                      <a:spcPts val="0"/>
                    </a:spcAft>
                    <a:buNone/>
                  </a:pPr>
                  <a:r>
                    <a:rPr b="1" lang="en-US" sz="805">
                      <a:solidFill>
                        <a:srgbClr val="F8F8F6"/>
                      </a:solidFill>
                    </a:rPr>
                    <a:t>Sensitivity ≠ fragility</a:t>
                  </a:r>
                  <a:r>
                    <a:rPr lang="en-US" sz="805">
                      <a:solidFill>
                        <a:srgbClr val="F8F8F6"/>
                      </a:solidFill>
                    </a:rPr>
                    <a:t> — large Δacc can signal </a:t>
                  </a:r>
                  <a:r>
                    <a:rPr i="1" lang="en-US" sz="805">
                      <a:solidFill>
                        <a:srgbClr val="F8F8F6"/>
                      </a:solidFill>
                    </a:rPr>
                    <a:t>recovery</a:t>
                  </a:r>
                  <a:r>
                    <a:rPr lang="en-US" sz="805">
                      <a:solidFill>
                        <a:srgbClr val="F8F8F6"/>
                      </a:solidFill>
                    </a:rPr>
                    <a:t> from a poorly matched baseline, not brittleness. Sign and baseline level must be read together.</a:t>
                  </a:r>
                  <a:endParaRPr sz="805">
                    <a:solidFill>
                      <a:srgbClr val="F8F8F6"/>
                    </a:solidFill>
                  </a:endParaRPr>
                </a:p>
                <a:p>
                  <a:pPr indent="0" lvl="0" marL="0" rtl="0" algn="l">
                    <a:spcBef>
                      <a:spcPts val="69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43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4" name="Google Shape;474;p58"/>
                <p:cNvSpPr/>
                <p:nvPr/>
              </p:nvSpPr>
              <p:spPr>
                <a:xfrm>
                  <a:off x="3609975" y="1524000"/>
                  <a:ext cx="2857500" cy="36195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7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58"/>
                <p:cNvSpPr/>
                <p:nvPr/>
              </p:nvSpPr>
              <p:spPr>
                <a:xfrm>
                  <a:off x="3609975" y="1524000"/>
                  <a:ext cx="28575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67E2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58"/>
                <p:cNvSpPr txBox="1"/>
                <p:nvPr/>
              </p:nvSpPr>
              <p:spPr>
                <a:xfrm>
                  <a:off x="3800475" y="1797177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40">
                      <a:solidFill>
                        <a:srgbClr val="E67E22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search</a:t>
                  </a:r>
                  <a:endParaRPr sz="1840">
                    <a:solidFill>
                      <a:srgbClr val="E67E22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477" name="Google Shape;477;p58"/>
                <p:cNvSpPr txBox="1"/>
                <p:nvPr/>
              </p:nvSpPr>
              <p:spPr>
                <a:xfrm>
                  <a:off x="3800475" y="2238375"/>
                  <a:ext cx="2476500" cy="271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34">
                      <a:solidFill>
                        <a:srgbClr val="1E293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2</a:t>
                  </a:r>
                  <a:r>
                    <a:rPr lang="en-US" sz="1334">
                      <a:solidFill>
                        <a:srgbClr val="1E293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. </a:t>
                  </a:r>
                  <a:r>
                    <a:rPr lang="en-US" sz="1547">
                      <a:solidFill>
                        <a:schemeClr val="dk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 high flip rate only becomes concerning when it also causes a harmful accuracy drop.</a:t>
                  </a:r>
                  <a:endParaRPr sz="1547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  <a:p>
                  <a:pPr indent="0" lvl="0" marL="0" rtl="0" algn="l">
                    <a:spcBef>
                      <a:spcPts val="690"/>
                    </a:spcBef>
                    <a:spcAft>
                      <a:spcPts val="690"/>
                    </a:spcAft>
                    <a:buNone/>
                  </a:pPr>
                  <a:r>
                    <a:t/>
                  </a:r>
                  <a:endParaRPr sz="1227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478" name="Google Shape;478;p58"/>
                <p:cNvSpPr/>
                <p:nvPr/>
              </p:nvSpPr>
              <p:spPr>
                <a:xfrm>
                  <a:off x="6715125" y="1524000"/>
                  <a:ext cx="2857500" cy="36195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7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58"/>
                <p:cNvSpPr/>
                <p:nvPr/>
              </p:nvSpPr>
              <p:spPr>
                <a:xfrm>
                  <a:off x="6715125" y="1524000"/>
                  <a:ext cx="28575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16A34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58"/>
                <p:cNvSpPr txBox="1"/>
                <p:nvPr/>
              </p:nvSpPr>
              <p:spPr>
                <a:xfrm>
                  <a:off x="6905625" y="1797177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40">
                      <a:solidFill>
                        <a:srgbClr val="16A34A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psychology</a:t>
                  </a:r>
                  <a:endParaRPr sz="184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481" name="Google Shape;481;p58"/>
                <p:cNvSpPr txBox="1"/>
                <p:nvPr/>
              </p:nvSpPr>
              <p:spPr>
                <a:xfrm>
                  <a:off x="6905625" y="2238375"/>
                  <a:ext cx="2476500" cy="271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34">
                      <a:solidFill>
                        <a:srgbClr val="1E293B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3. </a:t>
                  </a:r>
                  <a:r>
                    <a:rPr lang="en-US" sz="1547">
                      <a:solidFill>
                        <a:schemeClr val="dk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Some perturbations reveal collapse; others recover from a poor baseline prompt.</a:t>
                  </a:r>
                  <a:endParaRPr sz="1547">
                    <a:solidFill>
                      <a:schemeClr val="dk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  <a:p>
                  <a:pPr indent="0" lvl="0" marL="0" rtl="0" algn="l">
                    <a:spcBef>
                      <a:spcPts val="690"/>
                    </a:spcBef>
                    <a:spcAft>
                      <a:spcPts val="690"/>
                    </a:spcAft>
                    <a:buNone/>
                  </a:pPr>
                  <a:r>
                    <a:t/>
                  </a:r>
                  <a:endParaRPr sz="1227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sp>
            <p:nvSpPr>
              <p:cNvPr id="482" name="Google Shape;482;p58"/>
              <p:cNvSpPr/>
              <p:nvPr/>
            </p:nvSpPr>
            <p:spPr>
              <a:xfrm>
                <a:off x="7526948" y="1603847"/>
                <a:ext cx="2190900" cy="2681400"/>
              </a:xfrm>
              <a:prstGeom prst="roundRect">
                <a:avLst>
                  <a:gd fmla="val 4000" name="adj"/>
                </a:avLst>
              </a:prstGeom>
              <a:solidFill>
                <a:srgbClr val="F8FAFC"/>
              </a:solidFill>
              <a:ln cap="flat" cmpd="sng" w="7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58"/>
              <p:cNvSpPr/>
              <p:nvPr/>
            </p:nvSpPr>
            <p:spPr>
              <a:xfrm>
                <a:off x="7526911" y="1603852"/>
                <a:ext cx="2190900" cy="44100"/>
              </a:xfrm>
              <a:prstGeom prst="roundRect">
                <a:avLst>
                  <a:gd fmla="val 49999" name="adj"/>
                </a:avLst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58"/>
              <p:cNvSpPr txBox="1"/>
              <p:nvPr/>
            </p:nvSpPr>
            <p:spPr>
              <a:xfrm>
                <a:off x="7673027" y="2133012"/>
                <a:ext cx="1898700" cy="201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08" u="none" strike="noStrike">
                    <a:solidFill>
                      <a:srgbClr val="000000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4. Robust evaluation should report multiple prompts, signed Δacc, flip rate, and label diagnostics.</a:t>
                </a:r>
                <a:endParaRPr b="0" i="0" sz="1508" u="none" strike="noStrik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485" name="Google Shape;485;p58"/>
            <p:cNvGrpSpPr/>
            <p:nvPr/>
          </p:nvGrpSpPr>
          <p:grpSpPr>
            <a:xfrm>
              <a:off x="7673026" y="1806254"/>
              <a:ext cx="292200" cy="309172"/>
              <a:chOff x="7673026" y="1806254"/>
              <a:chExt cx="292200" cy="309172"/>
            </a:xfrm>
          </p:grpSpPr>
          <p:sp>
            <p:nvSpPr>
              <p:cNvPr id="486" name="Google Shape;486;p58"/>
              <p:cNvSpPr/>
              <p:nvPr/>
            </p:nvSpPr>
            <p:spPr>
              <a:xfrm>
                <a:off x="7673026" y="1806254"/>
                <a:ext cx="292200" cy="282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58"/>
              <p:cNvSpPr txBox="1"/>
              <p:nvPr/>
            </p:nvSpPr>
            <p:spPr>
              <a:xfrm>
                <a:off x="7673026" y="1833126"/>
                <a:ext cx="292200" cy="28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40">
                    <a:solidFill>
                      <a:srgbClr val="DC26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</a:t>
                </a:r>
                <a:endParaRPr b="0" sz="184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94" name="Google Shape;494;p59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495" name="Google Shape;495;p59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Limitation and Future Work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6" name="Google Shape;496;p59"/>
          <p:cNvSpPr txBox="1"/>
          <p:nvPr>
            <p:ph idx="4294967295" type="body"/>
          </p:nvPr>
        </p:nvSpPr>
        <p:spPr>
          <a:xfrm>
            <a:off x="504000" y="1463050"/>
            <a:ext cx="9367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05A2B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Shared baseline vs. model optimized prompts  Cross-model sensitivity differences entangled with baseline prompt model fit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05A2B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Single seed and subset  Results are reproducible but do not estimate sampling variance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05A2B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Quantization confound  4-bit NF4 may itself alter calibration and sensitivity; full precision comparison not done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05A2B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Limited perturbation suite (9 items, unbalanced categories)  Category level averages would be misleading; category comparisons avoided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05A2B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Asymmetric chat templates  Qwen auto-injects system message; Llama/Gemma do not  confounds cross model comparison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05A2B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6. Holm correction is conservative  Many BBH/ARC tests underpowered; null = inconclusive, not zero effect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0"/>
          <p:cNvSpPr txBox="1"/>
          <p:nvPr>
            <p:ph idx="10" type="dt"/>
          </p:nvPr>
        </p:nvSpPr>
        <p:spPr>
          <a:xfrm>
            <a:off x="8797680" y="0"/>
            <a:ext cx="118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/>
              <a:t>12.05.2026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503" name="Google Shape;503;p60"/>
          <p:cNvSpPr txBox="1"/>
          <p:nvPr>
            <p:ph idx="12" type="sldNum"/>
          </p:nvPr>
        </p:nvSpPr>
        <p:spPr>
          <a:xfrm>
            <a:off x="7334640" y="0"/>
            <a:ext cx="1280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  <p:sp>
        <p:nvSpPr>
          <p:cNvPr id="504" name="Google Shape;504;p60"/>
          <p:cNvSpPr txBox="1"/>
          <p:nvPr>
            <p:ph idx="4294967295" type="title"/>
          </p:nvPr>
        </p:nvSpPr>
        <p:spPr>
          <a:xfrm>
            <a:off x="503999" y="802080"/>
            <a:ext cx="9071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</a:pPr>
            <a:r>
              <a:rPr lang="en-US">
                <a:solidFill>
                  <a:srgbClr val="3465A4"/>
                </a:solidFill>
                <a:highlight>
                  <a:schemeClr val="lt1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References:</a:t>
            </a:r>
            <a:endParaRPr>
              <a:solidFill>
                <a:srgbClr val="3465A4"/>
              </a:solidFill>
              <a:highlight>
                <a:schemeClr val="lt1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05" name="Google Shape;505;p60"/>
          <p:cNvSpPr txBox="1"/>
          <p:nvPr>
            <p:ph idx="4294967295" type="body"/>
          </p:nvPr>
        </p:nvSpPr>
        <p:spPr>
          <a:xfrm>
            <a:off x="469963" y="1245775"/>
            <a:ext cx="9071700" cy="4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Brown, T. et al. 2020.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Language Models are Few-Shot Learners.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NeurIPS 33, 1877–1901.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Wei, J. et al. 2021.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Finetuned Language Models are Zero-Shot Learners.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arXiv:2109.01652.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Williams, A., Nangia, N., Bowman, S. 2018.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Broad-Coverage Challenge Corpus for Sentence Understanding Through Inference (MultiNLI).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NAACL-HLT.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Clark, P. et al. 2018.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ARC: The AI2 Reasoning Challenge.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arXiv:1803.05457.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Suzgun, M. et al. 2023.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Challenging BIG-Bench Tasks and Whether Chain-of-Thought Can Solve Them.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Findings of ACL 2023.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Lu, Y. et al. 2022.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Fantastically Ordered Prompts and Where to Find Them.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arXiv:2104.08786.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Mizrahi, M. et al. 2024.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 of What Art? A Call for Multi-Prompt LLM Evaluation.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arXiv:2401.00595.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Sclar, M. et al. 2023.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Quantifying LMs’ Sensitivity to Spurious Features in Prompt Design.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arXiv:2310.11324.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Voronov, A., Wolf, L., Ryabinin, M. 2024.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Mind Your Format: Towards Consistent Evaluation of In-Context Learning.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arXiv:2401.06766.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Reimers, N., Gurevych, I. 2019. </a:t>
            </a:r>
            <a:r>
              <a:rPr i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Sentence-BERT: Sentence Embeddings Using Siamese BERT-Networks.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EMNLP-IJCNLP.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AI@Meta. 2024. The Llama 3 Herd of Models. arXiv:2407.21783 [</a:t>
            </a:r>
            <a:r>
              <a:rPr lang="en-US" sz="10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cs.AI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Qwen Team. 2024. Qwen2.5 Technical Report. arXiv:2412.15115 [</a:t>
            </a:r>
            <a:r>
              <a:rPr lang="en-US" sz="10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cs.CL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Gemma Team, Morgane Riviere, Shreya Pathak, Pier Giuseppe Sessa, Cassidy Hardin, Surya Bhupatiraju, Léonard Hussenot, Thomas Mesnard, Bobak Shahriari, Alexandre Ramé, et al. 2024. Gemma 2: Improving open language models at a practical size. arXiv preprint arXiv:2408.00118 (2024).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 Dettmers, Artidoro Pagnoni, Ari Holtzman, and Luke Zettlemoyer. 2023. QLoRA: Efficient Finetuning of Quantized LLMs arXiv:2305.14314 [cs.LG]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750" y="1679938"/>
            <a:ext cx="5917025" cy="3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elfoli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ha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ha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